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handoutMasterIdLst>
    <p:handoutMasterId r:id="rId7"/>
  </p:handoutMasterIdLst>
  <p:sldIdLst>
    <p:sldId id="401" r:id="rId2"/>
    <p:sldId id="357" r:id="rId3"/>
    <p:sldId id="412" r:id="rId4"/>
    <p:sldId id="398" r:id="rId5"/>
  </p:sldIdLst>
  <p:sldSz cx="9144000" cy="6858000" type="screen4x3"/>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FF99CC"/>
    <a:srgbClr val="FF3399"/>
    <a:srgbClr val="00A84C"/>
    <a:srgbClr val="CCFFFF"/>
    <a:srgbClr val="FF99FF"/>
    <a:srgbClr val="CC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27" autoAdjust="0"/>
    <p:restoredTop sz="84682" autoAdjust="0"/>
  </p:normalViewPr>
  <p:slideViewPr>
    <p:cSldViewPr>
      <p:cViewPr>
        <p:scale>
          <a:sx n="73" d="100"/>
          <a:sy n="73" d="100"/>
        </p:scale>
        <p:origin x="342" y="2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49786" cy="498693"/>
          </a:xfrm>
          <a:prstGeom prst="rect">
            <a:avLst/>
          </a:prstGeom>
        </p:spPr>
        <p:txBody>
          <a:bodyPr vert="horz" lIns="91524" tIns="45763" rIns="91524" bIns="45763"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5839" y="1"/>
            <a:ext cx="2949786" cy="498693"/>
          </a:xfrm>
          <a:prstGeom prst="rect">
            <a:avLst/>
          </a:prstGeom>
        </p:spPr>
        <p:txBody>
          <a:bodyPr vert="horz" lIns="91524" tIns="45763" rIns="91524" bIns="45763" rtlCol="0"/>
          <a:lstStyle>
            <a:lvl1pPr algn="r">
              <a:defRPr sz="1200"/>
            </a:lvl1pPr>
          </a:lstStyle>
          <a:p>
            <a:fld id="{4F39D3A0-B184-434E-A37B-C553EE93F99B}" type="datetimeFigureOut">
              <a:rPr kumimoji="1" lang="ja-JP" altLang="en-US" smtClean="0"/>
              <a:pPr/>
              <a:t>2022/9/3</a:t>
            </a:fld>
            <a:endParaRPr kumimoji="1" lang="ja-JP" altLang="en-US"/>
          </a:p>
        </p:txBody>
      </p:sp>
      <p:sp>
        <p:nvSpPr>
          <p:cNvPr id="4" name="フッター プレースホルダー 3"/>
          <p:cNvSpPr>
            <a:spLocks noGrp="1"/>
          </p:cNvSpPr>
          <p:nvPr>
            <p:ph type="ftr" sz="quarter" idx="2"/>
          </p:nvPr>
        </p:nvSpPr>
        <p:spPr>
          <a:xfrm>
            <a:off x="2" y="9440647"/>
            <a:ext cx="2949786" cy="498692"/>
          </a:xfrm>
          <a:prstGeom prst="rect">
            <a:avLst/>
          </a:prstGeom>
        </p:spPr>
        <p:txBody>
          <a:bodyPr vert="horz" lIns="91524" tIns="45763" rIns="91524" bIns="45763"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5839" y="9440647"/>
            <a:ext cx="2949786" cy="498692"/>
          </a:xfrm>
          <a:prstGeom prst="rect">
            <a:avLst/>
          </a:prstGeom>
        </p:spPr>
        <p:txBody>
          <a:bodyPr vert="horz" lIns="91524" tIns="45763" rIns="91524" bIns="45763" rtlCol="0" anchor="b"/>
          <a:lstStyle>
            <a:lvl1pPr algn="r">
              <a:defRPr sz="1200"/>
            </a:lvl1pPr>
          </a:lstStyle>
          <a:p>
            <a:fld id="{A25483AF-877B-4893-B48B-0B5D8394B1E1}" type="slidenum">
              <a:rPr kumimoji="1" lang="ja-JP" altLang="en-US" smtClean="0"/>
              <a:pPr/>
              <a:t>‹#›</a:t>
            </a:fld>
            <a:endParaRPr kumimoji="1" lang="ja-JP" altLang="en-US"/>
          </a:p>
        </p:txBody>
      </p:sp>
    </p:spTree>
    <p:extLst>
      <p:ext uri="{BB962C8B-B14F-4D97-AF65-F5344CB8AC3E}">
        <p14:creationId xmlns:p14="http://schemas.microsoft.com/office/powerpoint/2010/main" val="25251127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2"/>
            <a:ext cx="2949786" cy="496967"/>
          </a:xfrm>
          <a:prstGeom prst="rect">
            <a:avLst/>
          </a:prstGeom>
        </p:spPr>
        <p:txBody>
          <a:bodyPr vert="horz" lIns="91524" tIns="45763" rIns="91524" bIns="45763" rtlCol="0"/>
          <a:lstStyle>
            <a:lvl1pPr algn="l">
              <a:defRPr sz="1200"/>
            </a:lvl1pPr>
          </a:lstStyle>
          <a:p>
            <a:endParaRPr kumimoji="1" lang="ja-JP" altLang="en-US"/>
          </a:p>
        </p:txBody>
      </p:sp>
      <p:sp>
        <p:nvSpPr>
          <p:cNvPr id="3" name="日付プレースホルダ 2"/>
          <p:cNvSpPr>
            <a:spLocks noGrp="1"/>
          </p:cNvSpPr>
          <p:nvPr>
            <p:ph type="dt" idx="1"/>
          </p:nvPr>
        </p:nvSpPr>
        <p:spPr>
          <a:xfrm>
            <a:off x="3855839" y="2"/>
            <a:ext cx="2949786" cy="496967"/>
          </a:xfrm>
          <a:prstGeom prst="rect">
            <a:avLst/>
          </a:prstGeom>
        </p:spPr>
        <p:txBody>
          <a:bodyPr vert="horz" lIns="91524" tIns="45763" rIns="91524" bIns="45763" rtlCol="0"/>
          <a:lstStyle>
            <a:lvl1pPr algn="r">
              <a:defRPr sz="1200"/>
            </a:lvl1pPr>
          </a:lstStyle>
          <a:p>
            <a:fld id="{240B11F3-7199-40E5-A61B-ED62D02783C3}" type="datetimeFigureOut">
              <a:rPr kumimoji="1" lang="ja-JP" altLang="en-US" smtClean="0"/>
              <a:pPr/>
              <a:t>2022/9/3</a:t>
            </a:fld>
            <a:endParaRPr kumimoji="1" lang="ja-JP" altLang="en-US"/>
          </a:p>
        </p:txBody>
      </p:sp>
      <p:sp>
        <p:nvSpPr>
          <p:cNvPr id="4" name="スライド イメージ プレースホルダ 3"/>
          <p:cNvSpPr>
            <a:spLocks noGrp="1" noRot="1" noChangeAspect="1"/>
          </p:cNvSpPr>
          <p:nvPr>
            <p:ph type="sldImg" idx="2"/>
          </p:nvPr>
        </p:nvSpPr>
        <p:spPr>
          <a:xfrm>
            <a:off x="917575" y="744538"/>
            <a:ext cx="4972050" cy="3729037"/>
          </a:xfrm>
          <a:prstGeom prst="rect">
            <a:avLst/>
          </a:prstGeom>
          <a:noFill/>
          <a:ln w="12700">
            <a:solidFill>
              <a:prstClr val="black"/>
            </a:solidFill>
          </a:ln>
        </p:spPr>
        <p:txBody>
          <a:bodyPr vert="horz" lIns="91524" tIns="45763" rIns="91524" bIns="45763" rtlCol="0" anchor="ctr"/>
          <a:lstStyle/>
          <a:p>
            <a:endParaRPr lang="ja-JP" altLang="en-US"/>
          </a:p>
        </p:txBody>
      </p:sp>
      <p:sp>
        <p:nvSpPr>
          <p:cNvPr id="5" name="ノート プレースホルダ 4"/>
          <p:cNvSpPr>
            <a:spLocks noGrp="1"/>
          </p:cNvSpPr>
          <p:nvPr>
            <p:ph type="body" sz="quarter" idx="3"/>
          </p:nvPr>
        </p:nvSpPr>
        <p:spPr>
          <a:xfrm>
            <a:off x="680721" y="4721185"/>
            <a:ext cx="5445760" cy="4472702"/>
          </a:xfrm>
          <a:prstGeom prst="rect">
            <a:avLst/>
          </a:prstGeom>
        </p:spPr>
        <p:txBody>
          <a:bodyPr vert="horz" lIns="91524" tIns="45763" rIns="91524" bIns="45763"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440647"/>
            <a:ext cx="2949786" cy="496967"/>
          </a:xfrm>
          <a:prstGeom prst="rect">
            <a:avLst/>
          </a:prstGeom>
        </p:spPr>
        <p:txBody>
          <a:bodyPr vert="horz" lIns="91524" tIns="45763" rIns="91524" bIns="45763"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55839" y="9440647"/>
            <a:ext cx="2949786" cy="496967"/>
          </a:xfrm>
          <a:prstGeom prst="rect">
            <a:avLst/>
          </a:prstGeom>
        </p:spPr>
        <p:txBody>
          <a:bodyPr vert="horz" lIns="91524" tIns="45763" rIns="91524" bIns="45763" rtlCol="0" anchor="b"/>
          <a:lstStyle>
            <a:lvl1pPr algn="r">
              <a:defRPr sz="1200"/>
            </a:lvl1pPr>
          </a:lstStyle>
          <a:p>
            <a:fld id="{11257D9E-1D50-489B-A48C-670B480CD677}" type="slidenum">
              <a:rPr kumimoji="1" lang="ja-JP" altLang="en-US" smtClean="0"/>
              <a:pPr/>
              <a:t>‹#›</a:t>
            </a:fld>
            <a:endParaRPr kumimoji="1" lang="ja-JP" altLang="en-US"/>
          </a:p>
        </p:txBody>
      </p:sp>
    </p:spTree>
    <p:extLst>
      <p:ext uri="{BB962C8B-B14F-4D97-AF65-F5344CB8AC3E}">
        <p14:creationId xmlns:p14="http://schemas.microsoft.com/office/powerpoint/2010/main" val="39765731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悩みを抱えるご家庭に向けて、我々は様々な相談を受け付けています。</a:t>
            </a:r>
            <a:endParaRPr kumimoji="1" lang="en-US" altLang="ja-JP" dirty="0"/>
          </a:p>
          <a:p>
            <a:endParaRPr kumimoji="1" lang="en-US" altLang="ja-JP" dirty="0"/>
          </a:p>
          <a:p>
            <a:r>
              <a:rPr kumimoji="1" lang="ja-JP" altLang="en-US" dirty="0"/>
              <a:t>そこでは必ず、「地域のみんなと一緒に安心安全な時間を過ごしましょう」と声を掛けています。</a:t>
            </a:r>
          </a:p>
        </p:txBody>
      </p:sp>
      <p:sp>
        <p:nvSpPr>
          <p:cNvPr id="4" name="スライド番号プレースホルダー 3"/>
          <p:cNvSpPr>
            <a:spLocks noGrp="1"/>
          </p:cNvSpPr>
          <p:nvPr>
            <p:ph type="sldNum" sz="quarter" idx="5"/>
          </p:nvPr>
        </p:nvSpPr>
        <p:spPr/>
        <p:txBody>
          <a:bodyPr/>
          <a:lstStyle/>
          <a:p>
            <a:fld id="{11257D9E-1D50-489B-A48C-670B480CD677}" type="slidenum">
              <a:rPr kumimoji="1" lang="ja-JP" altLang="en-US" smtClean="0"/>
              <a:pPr/>
              <a:t>1</a:t>
            </a:fld>
            <a:endParaRPr kumimoji="1" lang="ja-JP" altLang="en-US"/>
          </a:p>
        </p:txBody>
      </p:sp>
    </p:spTree>
    <p:extLst>
      <p:ext uri="{BB962C8B-B14F-4D97-AF65-F5344CB8AC3E}">
        <p14:creationId xmlns:p14="http://schemas.microsoft.com/office/powerpoint/2010/main" val="3308763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343243" indent="-343243" defTabSz="915314">
              <a:spcBef>
                <a:spcPct val="20000"/>
              </a:spcBef>
              <a:defRPr/>
            </a:pPr>
            <a:r>
              <a:rPr lang="ja-JP" altLang="en-US" kern="100" dirty="0">
                <a:latin typeface="Arial" panose="020B0604020202020204" pitchFamily="34" charset="0"/>
                <a:ea typeface="ＭＳ Ｐゴシック" panose="020B0600070205080204" pitchFamily="50" charset="-128"/>
                <a:cs typeface="Arial" panose="020B0604020202020204" pitchFamily="34" charset="0"/>
              </a:rPr>
              <a:t>２０１８年６月からは、こども食堂を営みながら</a:t>
            </a:r>
            <a:r>
              <a:rPr lang="ja-JP" altLang="ja-JP" kern="100" dirty="0">
                <a:latin typeface="Arial" panose="020B0604020202020204" pitchFamily="34" charset="0"/>
                <a:ea typeface="ＭＳ Ｐゴシック" panose="020B0600070205080204" pitchFamily="50" charset="-128"/>
                <a:cs typeface="Arial" panose="020B0604020202020204" pitchFamily="34" charset="0"/>
              </a:rPr>
              <a:t>生きる力を育む第</a:t>
            </a:r>
            <a:r>
              <a:rPr lang="en-US" altLang="ja-JP" kern="100" dirty="0">
                <a:latin typeface="Arial" panose="020B0604020202020204" pitchFamily="34" charset="0"/>
                <a:ea typeface="ＭＳ Ｐゴシック" panose="020B0600070205080204" pitchFamily="50" charset="-128"/>
              </a:rPr>
              <a:t>3</a:t>
            </a:r>
            <a:r>
              <a:rPr lang="ja-JP" altLang="ja-JP" kern="100" dirty="0">
                <a:latin typeface="Arial" panose="020B0604020202020204" pitchFamily="34" charset="0"/>
                <a:ea typeface="ＭＳ Ｐゴシック" panose="020B0600070205080204" pitchFamily="50" charset="-128"/>
                <a:cs typeface="Arial" panose="020B0604020202020204" pitchFamily="34" charset="0"/>
              </a:rPr>
              <a:t>の居場所づくりとして、屋内外で大人と子どもがコミュニケーションをとりながら一緒に体験できる様々な教室</a:t>
            </a:r>
            <a:r>
              <a:rPr lang="ja-JP" altLang="en-US" kern="100" dirty="0">
                <a:latin typeface="Arial" panose="020B0604020202020204" pitchFamily="34" charset="0"/>
                <a:ea typeface="ＭＳ Ｐゴシック" panose="020B0600070205080204" pitchFamily="50" charset="-128"/>
                <a:cs typeface="Arial" panose="020B0604020202020204" pitchFamily="34" charset="0"/>
              </a:rPr>
              <a:t>を</a:t>
            </a:r>
            <a:r>
              <a:rPr lang="ja-JP" altLang="ja-JP" kern="100" dirty="0">
                <a:latin typeface="Arial" panose="020B0604020202020204" pitchFamily="34" charset="0"/>
                <a:ea typeface="ＭＳ Ｐゴシック" panose="020B0600070205080204" pitchFamily="50" charset="-128"/>
                <a:cs typeface="Arial" panose="020B0604020202020204" pitchFamily="34" charset="0"/>
              </a:rPr>
              <a:t>開催</a:t>
            </a:r>
            <a:r>
              <a:rPr lang="ja-JP" altLang="en-US" kern="100" dirty="0">
                <a:latin typeface="Arial" panose="020B0604020202020204" pitchFamily="34" charset="0"/>
                <a:ea typeface="ＭＳ Ｐゴシック" panose="020B0600070205080204" pitchFamily="50" charset="-128"/>
                <a:cs typeface="Arial" panose="020B0604020202020204" pitchFamily="34" charset="0"/>
              </a:rPr>
              <a:t>してまいりました</a:t>
            </a:r>
            <a:r>
              <a:rPr lang="ja-JP" altLang="ja-JP" kern="100" dirty="0">
                <a:latin typeface="Arial" panose="020B0604020202020204" pitchFamily="34" charset="0"/>
                <a:ea typeface="ＭＳ Ｐゴシック" panose="020B0600070205080204" pitchFamily="50" charset="-128"/>
                <a:cs typeface="Arial" panose="020B0604020202020204" pitchFamily="34" charset="0"/>
              </a:rPr>
              <a:t>。</a:t>
            </a:r>
            <a:endParaRPr lang="ja-JP" altLang="en-US" dirty="0"/>
          </a:p>
          <a:p>
            <a:pPr marL="343243" indent="-343243">
              <a:spcBef>
                <a:spcPct val="20000"/>
              </a:spcBef>
              <a:defRPr/>
            </a:pPr>
            <a:r>
              <a:rPr lang="ja-JP" altLang="en-US" dirty="0">
                <a:solidFill>
                  <a:srgbClr val="00B050"/>
                </a:solidFill>
                <a:latin typeface="HGP創英角ﾎﾟｯﾌﾟ体" pitchFamily="50" charset="-128"/>
                <a:ea typeface="HGP創英角ﾎﾟｯﾌﾟ体" pitchFamily="50" charset="-128"/>
              </a:rPr>
              <a:t>　　</a:t>
            </a:r>
            <a:endParaRPr kumimoji="1" lang="ja-JP" altLang="en-US" dirty="0"/>
          </a:p>
        </p:txBody>
      </p:sp>
      <p:sp>
        <p:nvSpPr>
          <p:cNvPr id="4" name="スライド番号プレースホルダー 3"/>
          <p:cNvSpPr>
            <a:spLocks noGrp="1"/>
          </p:cNvSpPr>
          <p:nvPr>
            <p:ph type="sldNum" sz="quarter" idx="5"/>
          </p:nvPr>
        </p:nvSpPr>
        <p:spPr/>
        <p:txBody>
          <a:bodyPr/>
          <a:lstStyle/>
          <a:p>
            <a:fld id="{11257D9E-1D50-489B-A48C-670B480CD677}" type="slidenum">
              <a:rPr kumimoji="1" lang="ja-JP" altLang="en-US" smtClean="0"/>
              <a:pPr/>
              <a:t>2</a:t>
            </a:fld>
            <a:endParaRPr kumimoji="1" lang="ja-JP" altLang="en-US"/>
          </a:p>
        </p:txBody>
      </p:sp>
    </p:spTree>
    <p:extLst>
      <p:ext uri="{BB962C8B-B14F-4D97-AF65-F5344CB8AC3E}">
        <p14:creationId xmlns:p14="http://schemas.microsoft.com/office/powerpoint/2010/main" val="3469020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1257D9E-1D50-489B-A48C-670B480CD677}" type="slidenum">
              <a:rPr kumimoji="1" lang="ja-JP" altLang="en-US" smtClean="0"/>
              <a:pPr/>
              <a:t>3</a:t>
            </a:fld>
            <a:endParaRPr kumimoji="1" lang="ja-JP" altLang="en-US"/>
          </a:p>
        </p:txBody>
      </p:sp>
    </p:spTree>
    <p:extLst>
      <p:ext uri="{BB962C8B-B14F-4D97-AF65-F5344CB8AC3E}">
        <p14:creationId xmlns:p14="http://schemas.microsoft.com/office/powerpoint/2010/main" val="35523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1257D9E-1D50-489B-A48C-670B480CD677}" type="slidenum">
              <a:rPr kumimoji="1" lang="ja-JP" altLang="en-US" smtClean="0"/>
              <a:pPr/>
              <a:t>4</a:t>
            </a:fld>
            <a:endParaRPr kumimoji="1" lang="ja-JP" altLang="en-US"/>
          </a:p>
        </p:txBody>
      </p:sp>
    </p:spTree>
    <p:extLst>
      <p:ext uri="{BB962C8B-B14F-4D97-AF65-F5344CB8AC3E}">
        <p14:creationId xmlns:p14="http://schemas.microsoft.com/office/powerpoint/2010/main" val="2156024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FE2E4A9-187E-4BB3-B9B2-CB20EEB5A5B4}"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CB3CEE-FED5-4AC4-B083-819B88FED35E}" type="datetimeFigureOut">
              <a:rPr kumimoji="1" lang="ja-JP" altLang="en-US" smtClean="0"/>
              <a:pPr/>
              <a:t>2022/9/3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2E4A9-187E-4BB3-B9B2-CB20EEB5A5B4}"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andante.org/" TargetMode="External"/><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jpeg"/><Relationship Id="rId5" Type="http://schemas.microsoft.com/office/2007/relationships/hdphoto" Target="../media/hdphoto1.wdp"/><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AFAC3B4-5726-4643-A9C0-2E25EDA69C41}"/>
              </a:ext>
            </a:extLst>
          </p:cNvPr>
          <p:cNvPicPr>
            <a:picLocks noChangeAspect="1"/>
          </p:cNvPicPr>
          <p:nvPr/>
        </p:nvPicPr>
        <p:blipFill rotWithShape="1">
          <a:blip r:embed="rId3">
            <a:extLst>
              <a:ext uri="{28A0092B-C50C-407E-A947-70E740481C1C}">
                <a14:useLocalDpi xmlns:a14="http://schemas.microsoft.com/office/drawing/2010/main" val="0"/>
              </a:ext>
            </a:extLst>
          </a:blip>
          <a:srcRect b="15350"/>
          <a:stretch/>
        </p:blipFill>
        <p:spPr>
          <a:xfrm>
            <a:off x="0" y="0"/>
            <a:ext cx="9144000" cy="6597352"/>
          </a:xfrm>
          <a:prstGeom prst="rect">
            <a:avLst/>
          </a:prstGeom>
        </p:spPr>
      </p:pic>
      <p:sp>
        <p:nvSpPr>
          <p:cNvPr id="6" name="Rectangle 2">
            <a:extLst>
              <a:ext uri="{FF2B5EF4-FFF2-40B4-BE49-F238E27FC236}">
                <a16:creationId xmlns:a16="http://schemas.microsoft.com/office/drawing/2014/main" id="{BB5B54B4-C59C-4C36-9678-C1660391A061}"/>
              </a:ext>
            </a:extLst>
          </p:cNvPr>
          <p:cNvSpPr>
            <a:spLocks noChangeArrowheads="1"/>
          </p:cNvSpPr>
          <p:nvPr/>
        </p:nvSpPr>
        <p:spPr bwMode="auto">
          <a:xfrm>
            <a:off x="0" y="6493705"/>
            <a:ext cx="9144000" cy="423033"/>
          </a:xfrm>
          <a:prstGeom prst="rect">
            <a:avLst/>
          </a:prstGeom>
          <a:solidFill>
            <a:schemeClr val="accent1">
              <a:lumMod val="50000"/>
            </a:schemeClr>
          </a:solidFill>
          <a:ln>
            <a:noFill/>
          </a:ln>
        </p:spPr>
        <p:txBody>
          <a:bodyPr wrap="none" anchor="ctr"/>
          <a:lstStyle>
            <a:lvl1pPr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eaLnBrk="1" hangingPunct="1">
              <a:spcBef>
                <a:spcPct val="0"/>
              </a:spcBef>
              <a:buFontTx/>
              <a:buNone/>
              <a:defRPr/>
            </a:pPr>
            <a:endParaRPr lang="ja-JP" altLang="en-US" sz="1800" dirty="0"/>
          </a:p>
        </p:txBody>
      </p:sp>
      <p:sp>
        <p:nvSpPr>
          <p:cNvPr id="7" name="Rectangle 13">
            <a:extLst>
              <a:ext uri="{FF2B5EF4-FFF2-40B4-BE49-F238E27FC236}">
                <a16:creationId xmlns:a16="http://schemas.microsoft.com/office/drawing/2014/main" id="{24AE673B-72C9-4E4C-9D0B-2BCDA4A8E465}"/>
              </a:ext>
            </a:extLst>
          </p:cNvPr>
          <p:cNvSpPr>
            <a:spLocks noChangeArrowheads="1"/>
          </p:cNvSpPr>
          <p:nvPr/>
        </p:nvSpPr>
        <p:spPr bwMode="auto">
          <a:xfrm>
            <a:off x="755576" y="6493705"/>
            <a:ext cx="6984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r>
              <a:rPr lang="ja-JP" altLang="en-US" sz="2400" dirty="0">
                <a:solidFill>
                  <a:schemeClr val="bg1"/>
                </a:solidFill>
                <a:latin typeface="UD デジタル 教科書体 NP-B" panose="02020700000000000000" pitchFamily="18" charset="-128"/>
                <a:ea typeface="UD デジタル 教科書体 NP-B" panose="02020700000000000000" pitchFamily="18" charset="-128"/>
              </a:rPr>
              <a:t>相談予約専用ダイヤル：</a:t>
            </a:r>
            <a:r>
              <a:rPr lang="en-US" altLang="ja-JP" sz="2400" dirty="0">
                <a:solidFill>
                  <a:schemeClr val="bg1"/>
                </a:solidFill>
                <a:latin typeface="UD デジタル 教科書体 NP-B" panose="02020700000000000000" pitchFamily="18" charset="-128"/>
                <a:ea typeface="UD デジタル 教科書体 NP-B" panose="02020700000000000000" pitchFamily="18" charset="-128"/>
              </a:rPr>
              <a:t>070-2014-9882</a:t>
            </a:r>
          </a:p>
        </p:txBody>
      </p:sp>
      <p:sp>
        <p:nvSpPr>
          <p:cNvPr id="8" name="Rectangle 6">
            <a:extLst>
              <a:ext uri="{FF2B5EF4-FFF2-40B4-BE49-F238E27FC236}">
                <a16:creationId xmlns:a16="http://schemas.microsoft.com/office/drawing/2014/main" id="{F082C5BF-7435-450F-AE8B-019E25097DE8}"/>
              </a:ext>
            </a:extLst>
          </p:cNvPr>
          <p:cNvSpPr>
            <a:spLocks noChangeArrowheads="1"/>
          </p:cNvSpPr>
          <p:nvPr/>
        </p:nvSpPr>
        <p:spPr bwMode="auto">
          <a:xfrm>
            <a:off x="0" y="-27484"/>
            <a:ext cx="9180512" cy="5762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800" dirty="0"/>
              <a:t>　</a:t>
            </a:r>
          </a:p>
        </p:txBody>
      </p:sp>
      <p:sp>
        <p:nvSpPr>
          <p:cNvPr id="9" name="Rectangle 16">
            <a:extLst>
              <a:ext uri="{FF2B5EF4-FFF2-40B4-BE49-F238E27FC236}">
                <a16:creationId xmlns:a16="http://schemas.microsoft.com/office/drawing/2014/main" id="{087D2274-5776-4B0B-97CF-1BD4BBB67B2F}"/>
              </a:ext>
            </a:extLst>
          </p:cNvPr>
          <p:cNvSpPr>
            <a:spLocks noChangeArrowheads="1"/>
          </p:cNvSpPr>
          <p:nvPr/>
        </p:nvSpPr>
        <p:spPr bwMode="auto">
          <a:xfrm>
            <a:off x="448816" y="0"/>
            <a:ext cx="8282879" cy="1016001"/>
          </a:xfrm>
          <a:prstGeom prst="rect">
            <a:avLst/>
          </a:prstGeom>
          <a:noFill/>
          <a:ln>
            <a:noFill/>
          </a:ln>
          <a:effectLst/>
          <a:extLst>
            <a:ext uri="{909E8E84-426E-40DD-AFC4-6F175D3DCCD1}">
              <a14:hiddenFill xmlns:a14="http://schemas.microsoft.com/office/drawing/2010/main">
                <a:solidFill>
                  <a:srgbClr val="2B7738"/>
                </a:solidFill>
              </a14:hiddenFill>
            </a:ext>
            <a:ext uri="{91240B29-F687-4F45-9708-019B960494DF}">
              <a14:hiddenLine xmlns:a14="http://schemas.microsoft.com/office/drawing/2010/main" w="9525">
                <a:solidFill>
                  <a:srgbClr val="2B773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0"/>
              </a:spcBef>
              <a:buFontTx/>
              <a:buNone/>
            </a:pPr>
            <a:r>
              <a:rPr lang="ja-JP" altLang="en-US" sz="1800" b="1" dirty="0">
                <a:solidFill>
                  <a:srgbClr val="FFFF00"/>
                </a:solidFill>
                <a:latin typeface="BIZ UDPゴシック" panose="020B0400000000000000" pitchFamily="50" charset="-128"/>
                <a:ea typeface="BIZ UDPゴシック" panose="020B0400000000000000" pitchFamily="50" charset="-128"/>
              </a:rPr>
              <a:t>令和４年度福島県地域で支える子育て推進事業　　　「子育て相談居場所づくり」</a:t>
            </a:r>
            <a:endParaRPr lang="en-US" altLang="ja-JP" sz="1800" b="1" dirty="0">
              <a:solidFill>
                <a:srgbClr val="FFFF00"/>
              </a:solidFill>
              <a:latin typeface="BIZ UDPゴシック" panose="020B0400000000000000" pitchFamily="50" charset="-128"/>
              <a:ea typeface="BIZ UDPゴシック" panose="020B0400000000000000" pitchFamily="50" charset="-128"/>
            </a:endParaRPr>
          </a:p>
          <a:p>
            <a:pPr algn="ctr" eaLnBrk="1" hangingPunct="1">
              <a:spcBef>
                <a:spcPct val="0"/>
              </a:spcBef>
              <a:buFontTx/>
              <a:buNone/>
            </a:pPr>
            <a:endParaRPr lang="en-US" altLang="ja-JP" sz="4000" b="1" dirty="0">
              <a:solidFill>
                <a:srgbClr val="FFFF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6425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吹き出し: 角を丸めた四角形 6">
            <a:extLst>
              <a:ext uri="{FF2B5EF4-FFF2-40B4-BE49-F238E27FC236}">
                <a16:creationId xmlns:a16="http://schemas.microsoft.com/office/drawing/2014/main" id="{09E28A64-4E08-AA39-2A64-8061E8CADD4D}"/>
              </a:ext>
            </a:extLst>
          </p:cNvPr>
          <p:cNvSpPr/>
          <p:nvPr/>
        </p:nvSpPr>
        <p:spPr>
          <a:xfrm>
            <a:off x="472004" y="4619663"/>
            <a:ext cx="8281521" cy="1960809"/>
          </a:xfrm>
          <a:prstGeom prst="wedgeRoundRectCallout">
            <a:avLst>
              <a:gd name="adj1" fmla="val -12789"/>
              <a:gd name="adj2" fmla="val 49842"/>
              <a:gd name="adj3" fmla="val 16667"/>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14" name="Rectangle 1">
            <a:extLst>
              <a:ext uri="{FF2B5EF4-FFF2-40B4-BE49-F238E27FC236}">
                <a16:creationId xmlns:a16="http://schemas.microsoft.com/office/drawing/2014/main" id="{6C7B8D7F-5059-4280-B516-707EE787D31D}"/>
              </a:ext>
            </a:extLst>
          </p:cNvPr>
          <p:cNvSpPr>
            <a:spLocks noChangeArrowheads="1"/>
          </p:cNvSpPr>
          <p:nvPr/>
        </p:nvSpPr>
        <p:spPr bwMode="auto">
          <a:xfrm>
            <a:off x="823569" y="4619663"/>
            <a:ext cx="7636863"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a:spcBef>
                <a:spcPct val="0"/>
              </a:spcBef>
              <a:buFontTx/>
              <a:buNone/>
            </a:pPr>
            <a:r>
              <a:rPr lang="ja-JP" altLang="en-US" sz="2800" dirty="0"/>
              <a:t>　</a:t>
            </a:r>
            <a:r>
              <a:rPr lang="ja-JP" altLang="en-US" sz="2400" b="1" dirty="0">
                <a:solidFill>
                  <a:srgbClr val="00A84C"/>
                </a:solidFill>
                <a:latin typeface="HG丸ｺﾞｼｯｸM-PRO" panose="020F0600000000000000" pitchFamily="50" charset="-128"/>
                <a:ea typeface="HG丸ｺﾞｼｯｸM-PRO" panose="020F0600000000000000" pitchFamily="50" charset="-128"/>
              </a:rPr>
              <a:t>こども食堂開催日・場所・お米・食材配布等案内は</a:t>
            </a:r>
            <a:endParaRPr lang="en-US" altLang="ja-JP" sz="2400" b="1" dirty="0">
              <a:solidFill>
                <a:srgbClr val="00A84C"/>
              </a:solidFill>
              <a:latin typeface="HG丸ｺﾞｼｯｸM-PRO" panose="020F0600000000000000" pitchFamily="50" charset="-128"/>
              <a:ea typeface="HG丸ｺﾞｼｯｸM-PRO" panose="020F0600000000000000" pitchFamily="50" charset="-128"/>
            </a:endParaRPr>
          </a:p>
          <a:p>
            <a:pPr algn="ctr">
              <a:spcBef>
                <a:spcPct val="0"/>
              </a:spcBef>
              <a:buFontTx/>
              <a:buNone/>
            </a:pPr>
            <a:r>
              <a:rPr lang="ja-JP" altLang="en-US" sz="2400" b="1" dirty="0">
                <a:solidFill>
                  <a:srgbClr val="00A84C"/>
                </a:solidFill>
                <a:latin typeface="HG丸ｺﾞｼｯｸM-PRO" panose="020F0600000000000000" pitchFamily="50" charset="-128"/>
                <a:ea typeface="HG丸ｺﾞｼｯｸM-PRO" panose="020F0600000000000000" pitchFamily="50" charset="-128"/>
              </a:rPr>
              <a:t>　　　　　　　白河市ホームページバナー広告から</a:t>
            </a:r>
            <a:endParaRPr lang="en-US" altLang="ja-JP" sz="2400" b="1" dirty="0">
              <a:solidFill>
                <a:srgbClr val="00A84C"/>
              </a:solidFill>
              <a:latin typeface="HG丸ｺﾞｼｯｸM-PRO" panose="020F0600000000000000" pitchFamily="50" charset="-128"/>
              <a:ea typeface="HG丸ｺﾞｼｯｸM-PRO" panose="020F0600000000000000" pitchFamily="50" charset="-128"/>
            </a:endParaRPr>
          </a:p>
          <a:p>
            <a:pPr algn="ctr">
              <a:spcBef>
                <a:spcPct val="0"/>
              </a:spcBef>
              <a:buFontTx/>
              <a:buNone/>
            </a:pPr>
            <a:r>
              <a:rPr lang="ja-JP" altLang="en-US" sz="2400" b="1" dirty="0">
                <a:solidFill>
                  <a:srgbClr val="00A84C"/>
                </a:solidFill>
                <a:latin typeface="HG丸ｺﾞｼｯｸM-PRO" panose="020F0600000000000000" pitchFamily="50" charset="-128"/>
                <a:ea typeface="HG丸ｺﾞｼｯｸM-PRO" panose="020F0600000000000000" pitchFamily="50" charset="-128"/>
              </a:rPr>
              <a:t>ご確認下さい</a:t>
            </a:r>
            <a:r>
              <a:rPr lang="en-US" altLang="ja-JP" sz="2400" b="1" dirty="0">
                <a:solidFill>
                  <a:srgbClr val="00A84C"/>
                </a:solidFill>
                <a:latin typeface="HG丸ｺﾞｼｯｸM-PRO" panose="020F0600000000000000" pitchFamily="50" charset="-128"/>
                <a:ea typeface="HG丸ｺﾞｼｯｸM-PRO" panose="020F0600000000000000" pitchFamily="50" charset="-128"/>
              </a:rPr>
              <a:t>!!</a:t>
            </a:r>
            <a:r>
              <a:rPr lang="ja-JP" altLang="en-US" sz="2400" b="1" dirty="0">
                <a:solidFill>
                  <a:srgbClr val="00A84C"/>
                </a:solidFill>
                <a:latin typeface="HG丸ｺﾞｼｯｸM-PRO" panose="020F0600000000000000" pitchFamily="50" charset="-128"/>
                <a:ea typeface="HG丸ｺﾞｼｯｸM-PRO" panose="020F0600000000000000" pitchFamily="50" charset="-128"/>
              </a:rPr>
              <a:t>　</a:t>
            </a:r>
            <a:r>
              <a:rPr lang="ja-JP" altLang="en-US" sz="2800" b="1" dirty="0">
                <a:solidFill>
                  <a:srgbClr val="00A84C"/>
                </a:solidFill>
              </a:rPr>
              <a:t>　　　　　　　　　　　　</a:t>
            </a:r>
            <a:endParaRPr lang="en-US" altLang="ja-JP" sz="2800" b="1" dirty="0">
              <a:solidFill>
                <a:srgbClr val="00A84C"/>
              </a:solidFill>
            </a:endParaRPr>
          </a:p>
          <a:p>
            <a:pPr algn="r">
              <a:spcBef>
                <a:spcPct val="0"/>
              </a:spcBef>
              <a:buFontTx/>
              <a:buNone/>
            </a:pPr>
            <a:r>
              <a:rPr lang="en-US" altLang="ja-JP" sz="3600" dirty="0">
                <a:hlinkClick r:id="rId3"/>
              </a:rPr>
              <a:t>http://s-andante.org</a:t>
            </a:r>
            <a:r>
              <a:rPr lang="ja-JP" altLang="en-US" sz="3600" dirty="0"/>
              <a:t>　　</a:t>
            </a:r>
            <a:endParaRPr lang="ja-JP" altLang="ja-JP" sz="3600" dirty="0"/>
          </a:p>
          <a:p>
            <a:pPr algn="ctr" fontAlgn="ctr">
              <a:spcBef>
                <a:spcPct val="0"/>
              </a:spcBef>
              <a:buFontTx/>
              <a:buNone/>
            </a:pPr>
            <a:r>
              <a:rPr lang="ja-JP" altLang="ja-JP" sz="800" dirty="0"/>
              <a:t>  </a:t>
            </a:r>
            <a:r>
              <a:rPr lang="ja-JP" altLang="ja-JP" sz="28200" dirty="0"/>
              <a:t> </a:t>
            </a:r>
            <a:r>
              <a:rPr lang="ja-JP" altLang="ja-JP" sz="800" dirty="0"/>
              <a:t>               </a:t>
            </a:r>
            <a:endParaRPr lang="ja-JP" altLang="ja-JP" sz="1800" dirty="0"/>
          </a:p>
        </p:txBody>
      </p:sp>
      <p:pic>
        <p:nvPicPr>
          <p:cNvPr id="13315" name="Picture 2" descr="http://s-andante.org/wp-content/uploads/2020/03/kiraraka.jpg">
            <a:extLst>
              <a:ext uri="{FF2B5EF4-FFF2-40B4-BE49-F238E27FC236}">
                <a16:creationId xmlns:a16="http://schemas.microsoft.com/office/drawing/2014/main" id="{DCEFBCD8-0616-46E0-8730-1D3D31C135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003" y="1990425"/>
            <a:ext cx="2601094" cy="2473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3" descr="http://s-andante.org/wp-content/uploads/2020/03/unnamed.jpg">
            <a:extLst>
              <a:ext uri="{FF2B5EF4-FFF2-40B4-BE49-F238E27FC236}">
                <a16:creationId xmlns:a16="http://schemas.microsoft.com/office/drawing/2014/main" id="{AEAA5DD6-5E7A-4A83-A5EB-AF09900F83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1987" y="2183042"/>
            <a:ext cx="2808918" cy="226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4" descr="http://s-andante.org/wp-content/uploads/2020/03/rafumi.jpg">
            <a:extLst>
              <a:ext uri="{FF2B5EF4-FFF2-40B4-BE49-F238E27FC236}">
                <a16:creationId xmlns:a16="http://schemas.microsoft.com/office/drawing/2014/main" id="{3006E3D7-B523-4855-BC39-519FC84A45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7350" y="2110762"/>
            <a:ext cx="2496175" cy="2303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3">
            <a:extLst>
              <a:ext uri="{FF2B5EF4-FFF2-40B4-BE49-F238E27FC236}">
                <a16:creationId xmlns:a16="http://schemas.microsoft.com/office/drawing/2014/main" id="{B30DBF7F-763A-42BF-B750-95DAD0E4D406}"/>
              </a:ext>
            </a:extLst>
          </p:cNvPr>
          <p:cNvSpPr>
            <a:spLocks noChangeArrowheads="1"/>
          </p:cNvSpPr>
          <p:nvPr/>
        </p:nvSpPr>
        <p:spPr bwMode="auto">
          <a:xfrm>
            <a:off x="6227763" y="6546850"/>
            <a:ext cx="28082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r>
              <a:rPr lang="ja-JP" altLang="en-US" sz="1600" dirty="0">
                <a:solidFill>
                  <a:schemeClr val="bg1"/>
                </a:solidFill>
                <a:latin typeface="UD デジタル 教科書体 NP-B" panose="02020700000000000000" pitchFamily="18" charset="-128"/>
                <a:ea typeface="UD デジタル 教科書体 NP-B" panose="02020700000000000000" pitchFamily="18" charset="-128"/>
              </a:rPr>
              <a:t>一般社団法人　あんだんて</a:t>
            </a:r>
            <a:endParaRPr lang="en-US" altLang="ja-JP" sz="1600" dirty="0">
              <a:solidFill>
                <a:schemeClr val="bg1"/>
              </a:solidFill>
              <a:latin typeface="UD デジタル 教科書体 NP-B" panose="02020700000000000000" pitchFamily="18" charset="-128"/>
              <a:ea typeface="UD デジタル 教科書体 NP-B" panose="02020700000000000000" pitchFamily="18" charset="-128"/>
            </a:endParaRPr>
          </a:p>
        </p:txBody>
      </p:sp>
      <p:sp>
        <p:nvSpPr>
          <p:cNvPr id="4" name="Rectangle 13">
            <a:extLst>
              <a:ext uri="{FF2B5EF4-FFF2-40B4-BE49-F238E27FC236}">
                <a16:creationId xmlns:a16="http://schemas.microsoft.com/office/drawing/2014/main" id="{2196990B-5220-4B3D-A9E5-D41A128D758E}"/>
              </a:ext>
            </a:extLst>
          </p:cNvPr>
          <p:cNvSpPr>
            <a:spLocks noChangeArrowheads="1"/>
          </p:cNvSpPr>
          <p:nvPr/>
        </p:nvSpPr>
        <p:spPr bwMode="auto">
          <a:xfrm>
            <a:off x="6227763" y="6533832"/>
            <a:ext cx="28082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r>
              <a:rPr lang="ja-JP" altLang="en-US" sz="1600" dirty="0">
                <a:solidFill>
                  <a:schemeClr val="bg1"/>
                </a:solidFill>
                <a:latin typeface="UD デジタル 教科書体 NP-B" panose="02020700000000000000" pitchFamily="18" charset="-128"/>
                <a:ea typeface="UD デジタル 教科書体 NP-B" panose="02020700000000000000" pitchFamily="18" charset="-128"/>
              </a:rPr>
              <a:t>一般社団法人　あんだんて</a:t>
            </a:r>
            <a:endParaRPr lang="en-US" altLang="ja-JP" sz="1600" dirty="0">
              <a:solidFill>
                <a:schemeClr val="bg1"/>
              </a:solidFill>
              <a:latin typeface="UD デジタル 教科書体 NP-B" panose="02020700000000000000" pitchFamily="18" charset="-128"/>
              <a:ea typeface="UD デジタル 教科書体 NP-B" panose="02020700000000000000" pitchFamily="18" charset="-128"/>
            </a:endParaRPr>
          </a:p>
        </p:txBody>
      </p:sp>
      <p:sp>
        <p:nvSpPr>
          <p:cNvPr id="6" name="テキスト ボックス 5">
            <a:extLst>
              <a:ext uri="{FF2B5EF4-FFF2-40B4-BE49-F238E27FC236}">
                <a16:creationId xmlns:a16="http://schemas.microsoft.com/office/drawing/2014/main" id="{80F74B6F-CB2B-6BD9-AE7D-77236F162F8F}"/>
              </a:ext>
            </a:extLst>
          </p:cNvPr>
          <p:cNvSpPr txBox="1"/>
          <p:nvPr/>
        </p:nvSpPr>
        <p:spPr>
          <a:xfrm>
            <a:off x="30210" y="277528"/>
            <a:ext cx="9144000" cy="2380139"/>
          </a:xfrm>
          <a:prstGeom prst="rect">
            <a:avLst/>
          </a:prstGeom>
          <a:noFill/>
        </p:spPr>
        <p:txBody>
          <a:bodyPr wrap="square" rtlCol="0">
            <a:spAutoFit/>
          </a:bodyPr>
          <a:lstStyle/>
          <a:p>
            <a:pPr algn="ctr">
              <a:lnSpc>
                <a:spcPts val="7000"/>
              </a:lnSpc>
            </a:pPr>
            <a:r>
              <a:rPr lang="ja-JP" altLang="en-US" sz="3200" dirty="0">
                <a:solidFill>
                  <a:srgbClr val="FF3399"/>
                </a:solidFill>
                <a:latin typeface="HGP創英角ﾎﾟｯﾌﾟ体" panose="040B0A00000000000000" pitchFamily="50" charset="-128"/>
                <a:ea typeface="HGP創英角ﾎﾟｯﾌﾟ体" panose="040B0A00000000000000" pitchFamily="50" charset="-128"/>
                <a:cs typeface="Cascadia Code" panose="020B0609020000020004" pitchFamily="49" charset="0"/>
              </a:rPr>
              <a:t>　　　　こ</a:t>
            </a:r>
            <a:r>
              <a:rPr lang="ja-JP" altLang="en-US" sz="3200" b="0" i="0" dirty="0">
                <a:solidFill>
                  <a:srgbClr val="FF3399"/>
                </a:solidFill>
                <a:effectLst/>
                <a:latin typeface="HGP創英角ﾎﾟｯﾌﾟ体" panose="040B0A00000000000000" pitchFamily="50" charset="-128"/>
                <a:ea typeface="HGP創英角ﾎﾟｯﾌﾟ体" panose="040B0A00000000000000" pitchFamily="50" charset="-128"/>
                <a:cs typeface="Cascadia Code" panose="020B0609020000020004" pitchFamily="49" charset="0"/>
              </a:rPr>
              <a:t>どもから高齢者まで多世代を</a:t>
            </a:r>
            <a:r>
              <a:rPr lang="ja-JP" altLang="en-US" sz="3200" dirty="0">
                <a:solidFill>
                  <a:srgbClr val="FF3399"/>
                </a:solidFill>
                <a:latin typeface="HGP創英角ﾎﾟｯﾌﾟ体" panose="040B0A00000000000000" pitchFamily="50" charset="-128"/>
                <a:ea typeface="HGP創英角ﾎﾟｯﾌﾟ体" panose="040B0A00000000000000" pitchFamily="50" charset="-128"/>
                <a:cs typeface="Cascadia Code" panose="020B0609020000020004" pitchFamily="49" charset="0"/>
              </a:rPr>
              <a:t>つなぐ</a:t>
            </a:r>
            <a:endParaRPr lang="en-US" altLang="ja-JP" sz="3200" b="0" i="0" dirty="0">
              <a:solidFill>
                <a:srgbClr val="FF3399"/>
              </a:solidFill>
              <a:effectLst/>
              <a:latin typeface="HGP創英角ﾎﾟｯﾌﾟ体" panose="040B0A00000000000000" pitchFamily="50" charset="-128"/>
              <a:ea typeface="HGP創英角ﾎﾟｯﾌﾟ体" panose="040B0A00000000000000" pitchFamily="50" charset="-128"/>
              <a:cs typeface="Cascadia Code" panose="020B0609020000020004" pitchFamily="49" charset="0"/>
            </a:endParaRPr>
          </a:p>
          <a:p>
            <a:pPr algn="ctr">
              <a:lnSpc>
                <a:spcPts val="7000"/>
              </a:lnSpc>
            </a:pPr>
            <a:r>
              <a:rPr lang="ja-JP" altLang="en-US" sz="6000" b="0" i="0" dirty="0">
                <a:solidFill>
                  <a:srgbClr val="FF3399"/>
                </a:solidFill>
                <a:effectLst/>
                <a:latin typeface="HGP創英角ﾎﾟｯﾌﾟ体" panose="040B0A00000000000000" pitchFamily="50" charset="-128"/>
                <a:ea typeface="HGP創英角ﾎﾟｯﾌﾟ体" panose="040B0A00000000000000" pitchFamily="50" charset="-128"/>
                <a:cs typeface="Cascadia Code" panose="020B0609020000020004" pitchFamily="49" charset="0"/>
              </a:rPr>
              <a:t>　　の居場所</a:t>
            </a:r>
            <a:r>
              <a:rPr lang="ja-JP" altLang="en-US" sz="6000" dirty="0">
                <a:solidFill>
                  <a:srgbClr val="FF3399"/>
                </a:solidFill>
                <a:latin typeface="HGP創英角ﾎﾟｯﾌﾟ体" panose="040B0A00000000000000" pitchFamily="50" charset="-128"/>
                <a:ea typeface="HGP創英角ﾎﾟｯﾌﾟ体" panose="040B0A00000000000000" pitchFamily="50" charset="-128"/>
                <a:cs typeface="Cascadia Code" panose="020B0609020000020004" pitchFamily="49" charset="0"/>
              </a:rPr>
              <a:t>こども食堂</a:t>
            </a:r>
            <a:endParaRPr lang="en-US" altLang="ja-JP" sz="6000" dirty="0">
              <a:solidFill>
                <a:srgbClr val="FF3399"/>
              </a:solidFill>
              <a:latin typeface="HGP創英角ﾎﾟｯﾌﾟ体" panose="040B0A00000000000000" pitchFamily="50" charset="-128"/>
              <a:ea typeface="HGP創英角ﾎﾟｯﾌﾟ体" panose="040B0A00000000000000" pitchFamily="50" charset="-128"/>
              <a:cs typeface="Cascadia Code" panose="020B0609020000020004" pitchFamily="49" charset="0"/>
            </a:endParaRPr>
          </a:p>
          <a:p>
            <a:endParaRPr lang="en-US" altLang="ja-JP" sz="1400" dirty="0">
              <a:solidFill>
                <a:srgbClr val="C00000"/>
              </a:solidFill>
              <a:latin typeface="HGP創英角ﾎﾟｯﾌﾟ体" panose="040B0A00000000000000" pitchFamily="50" charset="-128"/>
              <a:ea typeface="HGP創英角ﾎﾟｯﾌﾟ体" panose="040B0A00000000000000" pitchFamily="50" charset="-128"/>
            </a:endParaRPr>
          </a:p>
          <a:p>
            <a:pPr algn="ctr"/>
            <a:endParaRPr kumimoji="1" lang="ja-JP" altLang="en-US" dirty="0">
              <a:latin typeface="HGP創英角ﾎﾟｯﾌﾟ体" panose="040B0A00000000000000" pitchFamily="50" charset="-128"/>
              <a:ea typeface="HGP創英角ﾎﾟｯﾌﾟ体" panose="040B0A00000000000000" pitchFamily="50" charset="-128"/>
            </a:endParaRPr>
          </a:p>
        </p:txBody>
      </p:sp>
      <p:pic>
        <p:nvPicPr>
          <p:cNvPr id="1026" name="Picture 2" descr="（一社）あんだんてバナー">
            <a:extLst>
              <a:ext uri="{FF2B5EF4-FFF2-40B4-BE49-F238E27FC236}">
                <a16:creationId xmlns:a16="http://schemas.microsoft.com/office/drawing/2014/main" id="{AD73B82A-149C-8D35-2B8A-E5C33FBC0A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3569" y="5445224"/>
            <a:ext cx="2342443" cy="947553"/>
          </a:xfrm>
          <a:prstGeom prst="rect">
            <a:avLst/>
          </a:prstGeom>
          <a:noFill/>
          <a:extLst>
            <a:ext uri="{909E8E84-426E-40DD-AFC4-6F175D3DCCD1}">
              <a14:hiddenFill xmlns:a14="http://schemas.microsoft.com/office/drawing/2010/main">
                <a:solidFill>
                  <a:srgbClr val="FFFFFF"/>
                </a:solidFill>
              </a14:hiddenFill>
            </a:ext>
          </a:extLst>
        </p:spPr>
      </p:pic>
      <p:sp>
        <p:nvSpPr>
          <p:cNvPr id="9" name="楕円 8">
            <a:extLst>
              <a:ext uri="{FF2B5EF4-FFF2-40B4-BE49-F238E27FC236}">
                <a16:creationId xmlns:a16="http://schemas.microsoft.com/office/drawing/2014/main" id="{1455A760-C5ED-5ECA-A5F1-3A9B9B0E6A6F}"/>
              </a:ext>
            </a:extLst>
          </p:cNvPr>
          <p:cNvSpPr/>
          <p:nvPr/>
        </p:nvSpPr>
        <p:spPr>
          <a:xfrm>
            <a:off x="51318" y="277528"/>
            <a:ext cx="1784378" cy="2138476"/>
          </a:xfrm>
          <a:prstGeom prst="ellipse">
            <a:avLst/>
          </a:prstGeom>
          <a:solidFill>
            <a:srgbClr val="FF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E7E64AA-3988-3EA2-99CD-C7FCADA3DB83}"/>
              </a:ext>
            </a:extLst>
          </p:cNvPr>
          <p:cNvSpPr txBox="1"/>
          <p:nvPr/>
        </p:nvSpPr>
        <p:spPr>
          <a:xfrm rot="19533242">
            <a:off x="204581" y="473048"/>
            <a:ext cx="1492214" cy="1569660"/>
          </a:xfrm>
          <a:prstGeom prst="rect">
            <a:avLst/>
          </a:prstGeom>
          <a:noFill/>
        </p:spPr>
        <p:txBody>
          <a:bodyPr wrap="square" rtlCol="0">
            <a:spAutoFit/>
          </a:bodyPr>
          <a:lstStyle/>
          <a:p>
            <a:r>
              <a:rPr kumimoji="1" lang="ja-JP" altLang="en-US" sz="9600" dirty="0">
                <a:solidFill>
                  <a:srgbClr val="FFFF00"/>
                </a:solidFill>
                <a:latin typeface="HGP創英角ﾎﾟｯﾌﾟ体" panose="040B0A00000000000000" pitchFamily="50" charset="-128"/>
                <a:ea typeface="HGP創英角ﾎﾟｯﾌﾟ体" panose="040B0A00000000000000" pitchFamily="50" charset="-128"/>
              </a:rPr>
              <a:t>食</a:t>
            </a:r>
          </a:p>
        </p:txBody>
      </p:sp>
    </p:spTree>
    <p:extLst>
      <p:ext uri="{BB962C8B-B14F-4D97-AF65-F5344CB8AC3E}">
        <p14:creationId xmlns:p14="http://schemas.microsoft.com/office/powerpoint/2010/main" val="672879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図 4">
            <a:extLst>
              <a:ext uri="{FF2B5EF4-FFF2-40B4-BE49-F238E27FC236}">
                <a16:creationId xmlns:a16="http://schemas.microsoft.com/office/drawing/2014/main" id="{FEA97C44-0811-9674-8ED9-77C32E35E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877" y="-617201"/>
            <a:ext cx="4583123" cy="4791673"/>
          </a:xfrm>
          <a:prstGeom prst="rect">
            <a:avLst/>
          </a:prstGeom>
          <a:noFill/>
          <a:extLst>
            <a:ext uri="{909E8E84-426E-40DD-AFC4-6F175D3DCCD1}">
              <a14:hiddenFill xmlns:a14="http://schemas.microsoft.com/office/drawing/2010/main">
                <a:solidFill>
                  <a:srgbClr val="FFFFFF"/>
                </a:solidFill>
              </a14:hiddenFill>
            </a:ext>
          </a:extLst>
        </p:spPr>
      </p:pic>
      <p:sp>
        <p:nvSpPr>
          <p:cNvPr id="8" name="楕円 7">
            <a:extLst>
              <a:ext uri="{FF2B5EF4-FFF2-40B4-BE49-F238E27FC236}">
                <a16:creationId xmlns:a16="http://schemas.microsoft.com/office/drawing/2014/main" id="{89D50658-8E0E-0AF6-6BDE-E4C2D15CF48B}"/>
              </a:ext>
            </a:extLst>
          </p:cNvPr>
          <p:cNvSpPr/>
          <p:nvPr/>
        </p:nvSpPr>
        <p:spPr>
          <a:xfrm>
            <a:off x="3059832" y="3525835"/>
            <a:ext cx="3456384" cy="1950616"/>
          </a:xfrm>
          <a:prstGeom prst="ellipse">
            <a:avLst/>
          </a:prstGeom>
          <a:solidFill>
            <a:srgbClr val="FFFF00"/>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ja-JP" altLang="en-US" dirty="0"/>
          </a:p>
        </p:txBody>
      </p:sp>
      <p:sp>
        <p:nvSpPr>
          <p:cNvPr id="10" name="Text Box 8">
            <a:extLst>
              <a:ext uri="{FF2B5EF4-FFF2-40B4-BE49-F238E27FC236}">
                <a16:creationId xmlns:a16="http://schemas.microsoft.com/office/drawing/2014/main" id="{4A762D7A-BD23-6D7E-D069-8A6E463E9081}"/>
              </a:ext>
            </a:extLst>
          </p:cNvPr>
          <p:cNvSpPr txBox="1">
            <a:spLocks noChangeArrowheads="1"/>
          </p:cNvSpPr>
          <p:nvPr/>
        </p:nvSpPr>
        <p:spPr bwMode="auto">
          <a:xfrm>
            <a:off x="3227733" y="3889441"/>
            <a:ext cx="3098154"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rgbClr val="0070C0"/>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幼児・小学生・中学生</a:t>
            </a:r>
            <a:endParaRPr kumimoji="0" lang="en-US" altLang="ja-JP" sz="2400" b="0" i="0" u="none" strike="noStrike" cap="none" normalizeH="0" baseline="0" dirty="0">
              <a:ln>
                <a:noFill/>
              </a:ln>
              <a:solidFill>
                <a:srgbClr val="0070C0"/>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3200" b="0" i="0" u="none" strike="noStrike" cap="none" normalizeH="0" baseline="0" dirty="0">
                <a:ln>
                  <a:noFill/>
                </a:ln>
                <a:solidFill>
                  <a:srgbClr val="0070C0"/>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 </a:t>
            </a:r>
            <a:r>
              <a:rPr kumimoji="0" lang="ja-JP" altLang="ja-JP" sz="3200" b="0" i="0" u="none" strike="noStrike" cap="none" normalizeH="0" baseline="0" dirty="0">
                <a:ln>
                  <a:noFill/>
                </a:ln>
                <a:solidFill>
                  <a:srgbClr val="FF0000"/>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無料</a:t>
            </a:r>
            <a:endParaRPr kumimoji="0" lang="en-US" altLang="ja-JP" sz="3200" b="0" i="0" u="none" strike="noStrike" cap="none" normalizeH="0" baseline="0" dirty="0">
              <a:ln>
                <a:noFill/>
              </a:ln>
              <a:solidFill>
                <a:srgbClr val="FF0000"/>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600" b="0" i="0" u="none" strike="noStrike" cap="none" normalizeH="0" baseline="0" dirty="0">
                <a:ln>
                  <a:noFill/>
                </a:ln>
                <a:solidFill>
                  <a:srgbClr val="1F4E79"/>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大人：協力寄付金</a:t>
            </a:r>
            <a:r>
              <a:rPr kumimoji="0" lang="en-US" altLang="ja-JP" sz="1600" b="1" i="0" u="none" strike="noStrike" cap="none" normalizeH="0" baseline="0" dirty="0">
                <a:ln>
                  <a:noFill/>
                </a:ln>
                <a:solidFill>
                  <a:srgbClr val="1F4E79"/>
                </a:solidFill>
                <a:effectLst/>
                <a:latin typeface="+mn-ea"/>
                <a:cs typeface="Times New Roman" panose="02020603050405020304" pitchFamily="18" charset="0"/>
              </a:rPr>
              <a:t>500</a:t>
            </a:r>
            <a:r>
              <a:rPr kumimoji="0" lang="ja-JP" altLang="en-US" sz="1600" b="1" i="0" u="none" strike="noStrike" cap="none" normalizeH="0" baseline="0" dirty="0">
                <a:ln>
                  <a:noFill/>
                </a:ln>
                <a:solidFill>
                  <a:srgbClr val="1F4E79"/>
                </a:solidFill>
                <a:effectLst/>
                <a:latin typeface="+mn-ea"/>
                <a:cs typeface="Times New Roman" panose="02020603050405020304" pitchFamily="18" charset="0"/>
              </a:rPr>
              <a:t>円</a:t>
            </a:r>
            <a:r>
              <a:rPr kumimoji="0" lang="ja-JP" altLang="en-US" sz="1600" b="0" i="0" u="none" strike="noStrike" cap="none" normalizeH="0" baseline="0" dirty="0">
                <a:ln>
                  <a:noFill/>
                </a:ln>
                <a:solidFill>
                  <a:srgbClr val="1F4E79"/>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a:t>
            </a:r>
            <a:endParaRPr kumimoji="0" lang="ja-JP" altLang="en-US" sz="1600" b="0" i="0" u="none" strike="noStrike" cap="none" normalizeH="0" baseline="0" dirty="0">
              <a:ln>
                <a:noFill/>
              </a:ln>
              <a:solidFill>
                <a:schemeClr val="tx1"/>
              </a:solidFill>
              <a:effectLst/>
              <a:latin typeface="Arial" panose="020B0604020202020204" pitchFamily="34" charset="0"/>
            </a:endParaRPr>
          </a:p>
        </p:txBody>
      </p:sp>
      <p:sp>
        <p:nvSpPr>
          <p:cNvPr id="12" name="Text Box 5">
            <a:extLst>
              <a:ext uri="{FF2B5EF4-FFF2-40B4-BE49-F238E27FC236}">
                <a16:creationId xmlns:a16="http://schemas.microsoft.com/office/drawing/2014/main" id="{0DF3930E-4440-D8FF-0FF4-F7AF65B450CE}"/>
              </a:ext>
            </a:extLst>
          </p:cNvPr>
          <p:cNvSpPr txBox="1">
            <a:spLocks noChangeArrowheads="1"/>
          </p:cNvSpPr>
          <p:nvPr/>
        </p:nvSpPr>
        <p:spPr bwMode="auto">
          <a:xfrm>
            <a:off x="4211961" y="5506410"/>
            <a:ext cx="4932040" cy="1351589"/>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indent="609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08000" algn="l" defTabSz="914400" rtl="0" eaLnBrk="0" fontAlgn="base" latinLnBrk="0" hangingPunct="0">
              <a:lnSpc>
                <a:spcPct val="100000"/>
              </a:lnSpc>
              <a:spcBef>
                <a:spcPct val="0"/>
              </a:spcBef>
              <a:spcAft>
                <a:spcPct val="0"/>
              </a:spcAft>
              <a:buClrTx/>
              <a:buSzTx/>
              <a:buFontTx/>
              <a:buNone/>
              <a:tabLst/>
            </a:pPr>
            <a:r>
              <a:rPr kumimoji="0" lang="en-US" altLang="ja-JP" sz="2000" b="0" i="0" u="none" strike="noStrike" cap="none" normalizeH="0" baseline="0" dirty="0">
                <a:ln>
                  <a:noFill/>
                </a:ln>
                <a:solidFill>
                  <a:srgbClr val="FF0000"/>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 </a:t>
            </a:r>
            <a:r>
              <a:rPr kumimoji="0" lang="ja-JP" altLang="en-US" sz="2400" b="0" i="0" u="none" strike="noStrike" cap="none" normalizeH="0" baseline="0" dirty="0">
                <a:ln>
                  <a:noFill/>
                </a:ln>
                <a:solidFill>
                  <a:srgbClr val="FF0000"/>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お申込み・お問い合わせ </a:t>
            </a:r>
            <a:r>
              <a:rPr kumimoji="0" lang="en-US" altLang="ja-JP" sz="2400" b="0" i="0" u="none" strike="noStrike" cap="none" normalizeH="0" baseline="0" dirty="0">
                <a:ln>
                  <a:noFill/>
                </a:ln>
                <a:solidFill>
                  <a:srgbClr val="FF0000"/>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a:t>
            </a:r>
            <a:endParaRPr kumimoji="0" lang="en-US" altLang="ja-JP" sz="2400" b="0"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endParaRPr>
          </a:p>
          <a:p>
            <a:pPr marL="0" marR="0" lvl="0" indent="609600" algn="ctr" defTabSz="914400" rtl="0" eaLnBrk="0" fontAlgn="base" latinLnBrk="0" hangingPunct="0">
              <a:lnSpc>
                <a:spcPts val="3500"/>
              </a:lnSpc>
              <a:spcBef>
                <a:spcPct val="0"/>
              </a:spcBef>
              <a:spcAft>
                <a:spcPct val="0"/>
              </a:spcAft>
              <a:buClrTx/>
              <a:buSzTx/>
              <a:buFontTx/>
              <a:buNone/>
              <a:tabLst/>
            </a:pPr>
            <a:r>
              <a:rPr kumimoji="0" lang="en-US" altLang="ja-JP" sz="2800" b="1" i="0" u="none" strike="noStrike" cap="none" normalizeH="0" baseline="0" dirty="0">
                <a:ln>
                  <a:noFill/>
                </a:ln>
                <a:solidFill>
                  <a:srgbClr val="00B050"/>
                </a:solidFill>
                <a:effectLst/>
                <a:latin typeface="UD デジタル 教科書体 NK-B" panose="02020700000000000000" pitchFamily="18" charset="-128"/>
                <a:ea typeface="UD デジタル 教科書体 NK-B" panose="02020700000000000000" pitchFamily="18" charset="-128"/>
                <a:cs typeface="Segoe UI Symbol" panose="020B0502040204020203" pitchFamily="34" charset="0"/>
              </a:rPr>
              <a:t>☎</a:t>
            </a:r>
            <a:r>
              <a:rPr kumimoji="0" lang="en-US" altLang="ja-JP" sz="2800" b="1" i="0" u="none" strike="noStrike" cap="none" normalizeH="0" baseline="0" dirty="0">
                <a:ln>
                  <a:noFill/>
                </a:ln>
                <a:solidFill>
                  <a:srgbClr val="00B050"/>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 090-3759-4109</a:t>
            </a:r>
            <a:endParaRPr kumimoji="0" lang="en-US" altLang="ja-JP" sz="2800" b="0"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endParaRPr>
          </a:p>
          <a:p>
            <a:pPr marL="0" marR="0" lvl="0" indent="609600" algn="l" defTabSz="914400" rtl="0" eaLnBrk="0" fontAlgn="base" latinLnBrk="0" hangingPunct="0">
              <a:lnSpc>
                <a:spcPts val="3500"/>
              </a:lnSpc>
              <a:spcBef>
                <a:spcPct val="0"/>
              </a:spcBef>
              <a:spcAft>
                <a:spcPct val="0"/>
              </a:spcAft>
              <a:buClrTx/>
              <a:buSzTx/>
              <a:buFontTx/>
              <a:buNone/>
              <a:tabLst/>
            </a:pPr>
            <a:r>
              <a:rPr kumimoji="0" lang="ja-JP" altLang="en-US" sz="1100" b="1"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一般社団法人</a:t>
            </a:r>
            <a:r>
              <a:rPr kumimoji="0" lang="ja-JP" altLang="en-US" sz="2000" b="1"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あんだんて </a:t>
            </a:r>
            <a:r>
              <a:rPr kumimoji="0" lang="ja-JP" altLang="en-US" sz="1600" b="1"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代表理事山本光子</a:t>
            </a:r>
            <a:endParaRPr kumimoji="0" lang="en-US" altLang="ja-JP" sz="600" b="1" i="0" u="none" strike="noStrike" cap="none" normalizeH="0" baseline="0" dirty="0">
              <a:ln>
                <a:noFill/>
              </a:ln>
              <a:solidFill>
                <a:schemeClr val="tx1"/>
              </a:solidFill>
              <a:effectLst/>
              <a:latin typeface="UD デジタル 教科書体 NK-B" panose="02020700000000000000" pitchFamily="18" charset="-128"/>
              <a:ea typeface="UD デジタル 教科書体 NK-B" panose="02020700000000000000" pitchFamily="18" charset="-128"/>
            </a:endParaRPr>
          </a:p>
          <a:p>
            <a:pPr marL="0" marR="0" lvl="0" indent="60960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dirty="0">
              <a:ln>
                <a:noFill/>
              </a:ln>
              <a:solidFill>
                <a:schemeClr val="tx1"/>
              </a:solidFill>
              <a:effectLst/>
              <a:latin typeface="Arial" panose="020B0604020202020204" pitchFamily="34" charset="0"/>
            </a:endParaRPr>
          </a:p>
        </p:txBody>
      </p:sp>
      <p:pic>
        <p:nvPicPr>
          <p:cNvPr id="2055" name="図 27">
            <a:extLst>
              <a:ext uri="{FF2B5EF4-FFF2-40B4-BE49-F238E27FC236}">
                <a16:creationId xmlns:a16="http://schemas.microsoft.com/office/drawing/2014/main" id="{CFFC7208-1202-C053-55C2-D9F219EE3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76452"/>
            <a:ext cx="4453963" cy="1406516"/>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1">
            <a:extLst>
              <a:ext uri="{FF2B5EF4-FFF2-40B4-BE49-F238E27FC236}">
                <a16:creationId xmlns:a16="http://schemas.microsoft.com/office/drawing/2014/main" id="{C71BAFA7-BCC6-FFCC-E65A-A061D2EB6BB8}"/>
              </a:ext>
            </a:extLst>
          </p:cNvPr>
          <p:cNvSpPr>
            <a:spLocks noChangeArrowheads="1"/>
          </p:cNvSpPr>
          <p:nvPr/>
        </p:nvSpPr>
        <p:spPr bwMode="auto">
          <a:xfrm>
            <a:off x="-9059" y="2533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sp>
        <p:nvSpPr>
          <p:cNvPr id="15" name="Rectangle 16">
            <a:extLst>
              <a:ext uri="{FF2B5EF4-FFF2-40B4-BE49-F238E27FC236}">
                <a16:creationId xmlns:a16="http://schemas.microsoft.com/office/drawing/2014/main" id="{E60DE22B-0F77-277D-100F-05E693B38D4D}"/>
              </a:ext>
            </a:extLst>
          </p:cNvPr>
          <p:cNvSpPr>
            <a:spLocks noChangeArrowheads="1"/>
          </p:cNvSpPr>
          <p:nvPr/>
        </p:nvSpPr>
        <p:spPr bwMode="auto">
          <a:xfrm>
            <a:off x="-9059" y="48253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17" name="図 4">
            <a:extLst>
              <a:ext uri="{FF2B5EF4-FFF2-40B4-BE49-F238E27FC236}">
                <a16:creationId xmlns:a16="http://schemas.microsoft.com/office/drawing/2014/main" id="{C4666698-5DD9-0E15-14B0-1FB69A93D7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 y="-617200"/>
            <a:ext cx="4580458" cy="4788881"/>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2">
            <a:extLst>
              <a:ext uri="{FF2B5EF4-FFF2-40B4-BE49-F238E27FC236}">
                <a16:creationId xmlns:a16="http://schemas.microsoft.com/office/drawing/2014/main" id="{2BDBCB05-5C17-EF26-EB70-CA38B7F55BBA}"/>
              </a:ext>
            </a:extLst>
          </p:cNvPr>
          <p:cNvSpPr txBox="1">
            <a:spLocks noChangeArrowheads="1"/>
          </p:cNvSpPr>
          <p:nvPr/>
        </p:nvSpPr>
        <p:spPr bwMode="auto">
          <a:xfrm>
            <a:off x="73318" y="1817260"/>
            <a:ext cx="4300096"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らふみーる</a:t>
            </a:r>
            <a:endParaRPr kumimoji="0" lang="en-US"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こども＆みんなの食堂</a:t>
            </a:r>
            <a:endParaRPr kumimoji="0" lang="en-US"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2000" dirty="0">
                <a:solidFill>
                  <a:srgbClr val="00B050"/>
                </a:solidFill>
                <a:latin typeface="游明朝" panose="02020400000000000000" pitchFamily="18" charset="-128"/>
                <a:ea typeface="UD デジタル 教科書体 NK-B" panose="02020700000000000000" pitchFamily="18" charset="-128"/>
                <a:cs typeface="Times New Roman" panose="02020603050405020304" pitchFamily="18" charset="0"/>
              </a:rPr>
              <a:t>白河市高山西</a:t>
            </a:r>
            <a:r>
              <a:rPr kumimoji="0" lang="en-US" altLang="ja-JP" sz="2000" b="1" dirty="0">
                <a:solidFill>
                  <a:srgbClr val="00B050"/>
                </a:solidFill>
                <a:latin typeface="游明朝" panose="02020400000000000000" pitchFamily="18" charset="-128"/>
                <a:ea typeface="UD デジタル 教科書体 NK-B" panose="02020700000000000000" pitchFamily="18" charset="-128"/>
                <a:cs typeface="Times New Roman" panose="02020603050405020304" pitchFamily="18" charset="0"/>
              </a:rPr>
              <a:t>162‐34</a:t>
            </a: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毎月</a:t>
            </a:r>
            <a:r>
              <a:rPr kumimoji="0" lang="ja-JP" altLang="en-US" sz="2000" b="1"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第</a:t>
            </a:r>
            <a:r>
              <a:rPr kumimoji="0" lang="en-US" altLang="ja-JP" sz="2000" b="1"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2</a:t>
            </a:r>
            <a:r>
              <a:rPr kumimoji="0" lang="ja-JP" altLang="en-US" sz="2000" b="1"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第・</a:t>
            </a:r>
            <a:r>
              <a:rPr kumimoji="0" lang="en-US" altLang="ja-JP" sz="2000" b="1"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4</a:t>
            </a:r>
            <a:r>
              <a:rPr kumimoji="0" lang="ja-JP" altLang="en-US" sz="2000" b="1"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日曜日</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11</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30</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13</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00</a:t>
            </a:r>
            <a:endParaRPr kumimoji="0" lang="ja-JP" altLang="ja-JP" sz="2000" b="1" i="0" u="none" strike="noStrike" cap="none" normalizeH="0" baseline="0" dirty="0">
              <a:ln>
                <a:noFill/>
              </a:ln>
              <a:effectLst/>
              <a:latin typeface="Arial" panose="020B0604020202020204" pitchFamily="34" charset="0"/>
            </a:endParaRPr>
          </a:p>
        </p:txBody>
      </p:sp>
      <p:sp>
        <p:nvSpPr>
          <p:cNvPr id="19" name="テキスト ボックス 2">
            <a:extLst>
              <a:ext uri="{FF2B5EF4-FFF2-40B4-BE49-F238E27FC236}">
                <a16:creationId xmlns:a16="http://schemas.microsoft.com/office/drawing/2014/main" id="{A7118BF5-27B2-6535-0BE7-0812F56946EF}"/>
              </a:ext>
            </a:extLst>
          </p:cNvPr>
          <p:cNvSpPr txBox="1">
            <a:spLocks noChangeArrowheads="1"/>
          </p:cNvSpPr>
          <p:nvPr/>
        </p:nvSpPr>
        <p:spPr bwMode="auto">
          <a:xfrm>
            <a:off x="4686369" y="1771499"/>
            <a:ext cx="4300096"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しらかわ</a:t>
            </a:r>
            <a:endParaRPr kumimoji="0" lang="en-US"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en-US"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大信こども食堂</a:t>
            </a:r>
            <a:endParaRPr kumimoji="0" lang="en-US" altLang="ja-JP" sz="3200" b="0" i="0" u="none" strike="noStrike" cap="none" normalizeH="0" baseline="0" dirty="0">
              <a:ln>
                <a:noFill/>
              </a:ln>
              <a:solidFill>
                <a:srgbClr val="FF33CC"/>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spcBef>
                <a:spcPct val="0"/>
              </a:spcBef>
              <a:spcAft>
                <a:spcPct val="0"/>
              </a:spcAft>
              <a:buClrTx/>
              <a:buSzTx/>
              <a:buFontTx/>
              <a:buNone/>
              <a:tabLst/>
            </a:pPr>
            <a:r>
              <a:rPr kumimoji="0" lang="ja-JP" altLang="en-US" sz="2000" dirty="0">
                <a:solidFill>
                  <a:srgbClr val="00B050"/>
                </a:solidFill>
                <a:latin typeface="游明朝" panose="02020400000000000000" pitchFamily="18" charset="-128"/>
                <a:ea typeface="UD デジタル 教科書体 NK-B" panose="02020700000000000000" pitchFamily="18" charset="-128"/>
                <a:cs typeface="Times New Roman" panose="02020603050405020304" pitchFamily="18" charset="0"/>
              </a:rPr>
              <a:t>白河市大信増見</a:t>
            </a:r>
            <a:r>
              <a:rPr kumimoji="0" lang="en-US" altLang="ja-JP" sz="2000" b="1" dirty="0">
                <a:solidFill>
                  <a:srgbClr val="00B050"/>
                </a:solidFill>
                <a:latin typeface="游明朝" panose="02020400000000000000" pitchFamily="18" charset="-128"/>
                <a:ea typeface="UD デジタル 教科書体 NK-B" panose="02020700000000000000" pitchFamily="18" charset="-128"/>
                <a:cs typeface="Times New Roman" panose="02020603050405020304" pitchFamily="18" charset="0"/>
              </a:rPr>
              <a:t>84</a:t>
            </a:r>
            <a:r>
              <a:rPr kumimoji="0" lang="ja-JP" altLang="en-US" sz="2000" b="0" i="0" u="none" strike="noStrike" cap="none" normalizeH="0" baseline="0" dirty="0">
                <a:ln>
                  <a:noFill/>
                </a:ln>
                <a:solidFill>
                  <a:srgbClr val="00B050"/>
                </a:solidFill>
                <a:effectLst/>
                <a:latin typeface="游明朝" panose="02020400000000000000" pitchFamily="18" charset="-128"/>
                <a:ea typeface="UD デジタル 教科書体 NK-B" panose="02020700000000000000" pitchFamily="18" charset="-128"/>
                <a:cs typeface="Times New Roman" panose="02020603050405020304" pitchFamily="18" charset="0"/>
              </a:rPr>
              <a:t>（旧大信飯店）</a:t>
            </a:r>
            <a:endParaRPr kumimoji="0" lang="en-US" altLang="ja-JP" sz="2000" b="0" i="0" u="none" strike="noStrike" cap="none" normalizeH="0" baseline="0" dirty="0">
              <a:ln>
                <a:noFill/>
              </a:ln>
              <a:solidFill>
                <a:srgbClr val="00B050"/>
              </a:solidFill>
              <a:effectLst/>
              <a:latin typeface="游明朝" panose="02020400000000000000" pitchFamily="18" charset="-128"/>
              <a:ea typeface="UD デジタル 教科書体 NK-B" panose="02020700000000000000" pitchFamily="18" charset="-128"/>
              <a:cs typeface="Times New Roman" panose="02020603050405020304" pitchFamily="18" charset="0"/>
            </a:endParaRPr>
          </a:p>
          <a:p>
            <a:pPr marL="0" marR="0" lvl="0" indent="0" algn="ctr" defTabSz="914400" rtl="0" eaLnBrk="0" fontAlgn="base" latinLnBrk="0" hangingPunct="0">
              <a:spcBef>
                <a:spcPct val="0"/>
              </a:spcBef>
              <a:spcAft>
                <a:spcPct val="0"/>
              </a:spcAft>
              <a:buClrTx/>
              <a:buSzTx/>
              <a:buFontTx/>
              <a:buNone/>
              <a:tabLst/>
            </a:pPr>
            <a:r>
              <a:rPr kumimoji="0" lang="ja-JP" altLang="en-US" sz="2000" dirty="0">
                <a:latin typeface="游明朝" panose="02020400000000000000" pitchFamily="18" charset="-128"/>
                <a:ea typeface="UD デジタル 教科書体 NK-B" panose="02020700000000000000" pitchFamily="18" charset="-128"/>
                <a:cs typeface="Times New Roman" panose="02020603050405020304" pitchFamily="18" charset="0"/>
              </a:rPr>
              <a:t>毎月</a:t>
            </a:r>
            <a:r>
              <a:rPr kumimoji="0" lang="ja-JP" altLang="en-US" sz="2000"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第</a:t>
            </a:r>
            <a:r>
              <a:rPr kumimoji="0" lang="en-US" altLang="ja-JP" sz="2000" dirty="0">
                <a:solidFill>
                  <a:srgbClr val="FF0000"/>
                </a:solidFill>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3</a:t>
            </a:r>
            <a:r>
              <a:rPr kumimoji="0" lang="ja-JP" altLang="en-US" sz="2000" dirty="0">
                <a:solidFill>
                  <a:srgbClr val="FF0000"/>
                </a:solidFill>
                <a:latin typeface="UD デジタル 教科書体 NK-B" panose="02020700000000000000" pitchFamily="18" charset="-128"/>
                <a:ea typeface="UD デジタル 教科書体 NK-B" panose="02020700000000000000" pitchFamily="18" charset="-128"/>
                <a:cs typeface="Times New Roman" panose="02020603050405020304" pitchFamily="18" charset="0"/>
              </a:rPr>
              <a:t>土</a:t>
            </a:r>
            <a:r>
              <a:rPr kumimoji="0" lang="ja-JP" altLang="en-US" sz="2000" dirty="0">
                <a:solidFill>
                  <a:srgbClr val="FF0000"/>
                </a:solidFill>
                <a:latin typeface="游明朝" panose="02020400000000000000" pitchFamily="18" charset="-128"/>
                <a:ea typeface="UD デジタル 教科書体 NK-B" panose="02020700000000000000" pitchFamily="18" charset="-128"/>
                <a:cs typeface="Times New Roman" panose="02020603050405020304" pitchFamily="18" charset="0"/>
              </a:rPr>
              <a:t>曜日</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16</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00</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17</a:t>
            </a:r>
            <a:r>
              <a:rPr kumimoji="0" lang="ja-JP" altLang="en-US" sz="2000" b="1" dirty="0">
                <a:latin typeface="游明朝" panose="02020400000000000000" pitchFamily="18" charset="-128"/>
                <a:ea typeface="UD デジタル 教科書体 NK-B" panose="02020700000000000000" pitchFamily="18" charset="-128"/>
                <a:cs typeface="Times New Roman" panose="02020603050405020304" pitchFamily="18" charset="0"/>
              </a:rPr>
              <a:t>：</a:t>
            </a:r>
            <a:r>
              <a:rPr kumimoji="0" lang="en-US" altLang="ja-JP" sz="2000" b="1" dirty="0">
                <a:latin typeface="游明朝" panose="02020400000000000000" pitchFamily="18" charset="-128"/>
                <a:ea typeface="UD デジタル 教科書体 NK-B" panose="02020700000000000000" pitchFamily="18" charset="-128"/>
                <a:cs typeface="Times New Roman" panose="02020603050405020304" pitchFamily="18" charset="0"/>
              </a:rPr>
              <a:t>30</a:t>
            </a:r>
            <a:endParaRPr kumimoji="0" lang="ja-JP" altLang="ja-JP" sz="2000" b="1" i="0" u="none" strike="noStrike" cap="none" normalizeH="0" baseline="0" dirty="0">
              <a:ln>
                <a:noFill/>
              </a:ln>
              <a:effectLst/>
              <a:latin typeface="Arial" panose="020B0604020202020204" pitchFamily="34" charset="0"/>
            </a:endParaRPr>
          </a:p>
        </p:txBody>
      </p:sp>
      <p:pic>
        <p:nvPicPr>
          <p:cNvPr id="20" name="Picture 2" descr="http://s-andante.org/wp-content/uploads/2020/03/slider5-1024x449.jpg">
            <a:extLst>
              <a:ext uri="{FF2B5EF4-FFF2-40B4-BE49-F238E27FC236}">
                <a16:creationId xmlns:a16="http://schemas.microsoft.com/office/drawing/2014/main" id="{83E5198F-AF75-9380-8549-7F94E29E3310}"/>
              </a:ext>
            </a:extLst>
          </p:cNvPr>
          <p:cNvPicPr>
            <a:picLocks noGrp="1" noChangeAspect="1" noChangeArrowheads="1"/>
          </p:cNvPicPr>
          <p:nvPr>
            <p:ph idx="1"/>
          </p:nvPr>
        </p:nvPicPr>
        <p:blipFill rotWithShape="1">
          <a:blip r:embed="rId5" cstate="print">
            <a:extLst>
              <a:ext uri="{28A0092B-C50C-407E-A947-70E740481C1C}">
                <a14:useLocalDpi xmlns:a14="http://schemas.microsoft.com/office/drawing/2010/main" val="0"/>
              </a:ext>
            </a:extLst>
          </a:blip>
          <a:srcRect l="11179" r="9041"/>
          <a:stretch/>
        </p:blipFill>
        <p:spPr>
          <a:xfrm>
            <a:off x="256196" y="3561685"/>
            <a:ext cx="2921506" cy="1811531"/>
          </a:xfrm>
          <a:noFill/>
          <a:extLst>
            <a:ext uri="{909E8E84-426E-40DD-AFC4-6F175D3DCCD1}">
              <a14:hiddenFill xmlns:a14="http://schemas.microsoft.com/office/drawing/2010/main">
                <a:solidFill>
                  <a:srgbClr val="FFFFFF"/>
                </a:solidFill>
              </a14:hiddenFill>
            </a:ext>
          </a:extLst>
        </p:spPr>
      </p:pic>
      <p:pic>
        <p:nvPicPr>
          <p:cNvPr id="22" name="図 21">
            <a:extLst>
              <a:ext uri="{FF2B5EF4-FFF2-40B4-BE49-F238E27FC236}">
                <a16:creationId xmlns:a16="http://schemas.microsoft.com/office/drawing/2014/main" id="{9261ADA9-7AF5-27B0-54F3-38273850E90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9525" t="9862" r="17529" b="6534"/>
          <a:stretch/>
        </p:blipFill>
        <p:spPr>
          <a:xfrm rot="5400000">
            <a:off x="6657363" y="3230209"/>
            <a:ext cx="1898964" cy="2561917"/>
          </a:xfrm>
          <a:prstGeom prst="rect">
            <a:avLst/>
          </a:prstGeom>
        </p:spPr>
      </p:pic>
    </p:spTree>
    <p:extLst>
      <p:ext uri="{BB962C8B-B14F-4D97-AF65-F5344CB8AC3E}">
        <p14:creationId xmlns:p14="http://schemas.microsoft.com/office/powerpoint/2010/main" val="48839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3822FEF9-2845-4680-81F2-3D76F811E2AC}"/>
              </a:ext>
            </a:extLst>
          </p:cNvPr>
          <p:cNvPicPr/>
          <p:nvPr/>
        </p:nvPicPr>
        <p:blipFill rotWithShape="1">
          <a:blip r:embed="rId3" cstate="print">
            <a:extLst>
              <a:ext uri="{28A0092B-C50C-407E-A947-70E740481C1C}">
                <a14:useLocalDpi xmlns:a14="http://schemas.microsoft.com/office/drawing/2010/main" val="0"/>
              </a:ext>
            </a:extLst>
          </a:blip>
          <a:srcRect l="6930" t="5959" r="1373" b="3817"/>
          <a:stretch/>
        </p:blipFill>
        <p:spPr>
          <a:xfrm>
            <a:off x="74423" y="4348511"/>
            <a:ext cx="3131820" cy="2045115"/>
          </a:xfrm>
          <a:prstGeom prst="rect">
            <a:avLst/>
          </a:prstGeom>
          <a:ln w="76200">
            <a:solidFill>
              <a:srgbClr val="002060"/>
            </a:solidFill>
          </a:ln>
        </p:spPr>
      </p:pic>
      <p:pic>
        <p:nvPicPr>
          <p:cNvPr id="9" name="図 8">
            <a:extLst>
              <a:ext uri="{FF2B5EF4-FFF2-40B4-BE49-F238E27FC236}">
                <a16:creationId xmlns:a16="http://schemas.microsoft.com/office/drawing/2014/main" id="{7F625BF8-C997-4106-8100-B1CE91191214}"/>
              </a:ext>
            </a:extLst>
          </p:cNvPr>
          <p:cNvPicPr/>
          <p:nvPr/>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46148" t="54371" r="27565" b="9999"/>
          <a:stretch/>
        </p:blipFill>
        <p:spPr bwMode="auto">
          <a:xfrm>
            <a:off x="3379963" y="64894"/>
            <a:ext cx="5689614" cy="4152619"/>
          </a:xfrm>
          <a:prstGeom prst="rect">
            <a:avLst/>
          </a:prstGeom>
          <a:ln w="76200">
            <a:solidFill>
              <a:srgbClr val="FF0000"/>
            </a:solidFill>
            <a:prstDash val="sysDot"/>
          </a:ln>
          <a:extLst>
            <a:ext uri="{53640926-AAD7-44D8-BBD7-CCE9431645EC}">
              <a14:shadowObscured xmlns:a14="http://schemas.microsoft.com/office/drawing/2010/main"/>
            </a:ext>
          </a:extLst>
        </p:spPr>
      </p:pic>
      <p:sp>
        <p:nvSpPr>
          <p:cNvPr id="2" name="テキスト ボックス 1">
            <a:extLst>
              <a:ext uri="{FF2B5EF4-FFF2-40B4-BE49-F238E27FC236}">
                <a16:creationId xmlns:a16="http://schemas.microsoft.com/office/drawing/2014/main" id="{5A2250B0-CF1B-4DAB-BD74-AF74DF45FA2B}"/>
              </a:ext>
            </a:extLst>
          </p:cNvPr>
          <p:cNvSpPr txBox="1"/>
          <p:nvPr/>
        </p:nvSpPr>
        <p:spPr>
          <a:xfrm>
            <a:off x="631117" y="4551924"/>
            <a:ext cx="1598256" cy="630942"/>
          </a:xfrm>
          <a:prstGeom prst="rect">
            <a:avLst/>
          </a:prstGeom>
          <a:noFill/>
        </p:spPr>
        <p:txBody>
          <a:bodyPr wrap="square" rtlCol="0">
            <a:spAutoFit/>
          </a:bodyPr>
          <a:lstStyle/>
          <a:p>
            <a:pPr algn="ctr"/>
            <a:r>
              <a:rPr lang="ja-JP" altLang="en-US" sz="1200" b="1" dirty="0">
                <a:solidFill>
                  <a:srgbClr val="0070C0"/>
                </a:solidFill>
                <a:latin typeface="HGP創英角ｺﾞｼｯｸUB" panose="020B0900000000000000" pitchFamily="50" charset="-128"/>
                <a:ea typeface="HGP創英角ｺﾞｼｯｸUB" panose="020B0900000000000000" pitchFamily="50" charset="-128"/>
              </a:rPr>
              <a:t>らふみーる</a:t>
            </a:r>
            <a:endParaRPr lang="en-US" altLang="ja-JP" sz="1200" b="1" dirty="0">
              <a:solidFill>
                <a:srgbClr val="0070C0"/>
              </a:solidFill>
              <a:latin typeface="HGP創英角ｺﾞｼｯｸUB" panose="020B0900000000000000" pitchFamily="50" charset="-128"/>
              <a:ea typeface="HGP創英角ｺﾞｼｯｸUB" panose="020B0900000000000000" pitchFamily="50" charset="-128"/>
            </a:endParaRPr>
          </a:p>
          <a:p>
            <a:pPr algn="ctr"/>
            <a:r>
              <a:rPr lang="ja-JP" altLang="en-US" sz="1200" b="1" dirty="0">
                <a:solidFill>
                  <a:srgbClr val="0070C0"/>
                </a:solidFill>
                <a:latin typeface="HGP創英角ｺﾞｼｯｸUB" panose="020B0900000000000000" pitchFamily="50" charset="-128"/>
                <a:ea typeface="HGP創英角ｺﾞｼｯｸUB" panose="020B0900000000000000" pitchFamily="50" charset="-128"/>
              </a:rPr>
              <a:t>こども＆みんなの食堂</a:t>
            </a:r>
            <a:endParaRPr lang="en-US" altLang="ja-JP" sz="1200" b="1" dirty="0">
              <a:solidFill>
                <a:srgbClr val="0070C0"/>
              </a:solidFill>
              <a:latin typeface="HGP創英角ｺﾞｼｯｸUB" panose="020B0900000000000000" pitchFamily="50" charset="-128"/>
              <a:ea typeface="HGP創英角ｺﾞｼｯｸUB" panose="020B0900000000000000" pitchFamily="50" charset="-128"/>
            </a:endParaRPr>
          </a:p>
          <a:p>
            <a:pPr algn="ctr"/>
            <a:r>
              <a:rPr kumimoji="1" lang="ja-JP" altLang="en-US" sz="1100" b="1" dirty="0">
                <a:solidFill>
                  <a:srgbClr val="00B050"/>
                </a:solidFill>
                <a:latin typeface="HGP創英角ｺﾞｼｯｸUB" panose="020B0900000000000000" pitchFamily="50" charset="-128"/>
                <a:ea typeface="HGP創英角ｺﾞｼｯｸUB" panose="020B0900000000000000" pitchFamily="50" charset="-128"/>
              </a:rPr>
              <a:t>↓</a:t>
            </a:r>
          </a:p>
        </p:txBody>
      </p:sp>
      <p:sp>
        <p:nvSpPr>
          <p:cNvPr id="3" name="テキスト ボックス 2">
            <a:extLst>
              <a:ext uri="{FF2B5EF4-FFF2-40B4-BE49-F238E27FC236}">
                <a16:creationId xmlns:a16="http://schemas.microsoft.com/office/drawing/2014/main" id="{CFB9F547-3344-4699-B0DC-AFE8FEFDF073}"/>
              </a:ext>
            </a:extLst>
          </p:cNvPr>
          <p:cNvSpPr txBox="1"/>
          <p:nvPr/>
        </p:nvSpPr>
        <p:spPr>
          <a:xfrm>
            <a:off x="1907705" y="6021288"/>
            <a:ext cx="648071" cy="307777"/>
          </a:xfrm>
          <a:prstGeom prst="rect">
            <a:avLst/>
          </a:prstGeom>
          <a:solidFill>
            <a:srgbClr val="CCFFFF"/>
          </a:solidFill>
          <a:ln>
            <a:solidFill>
              <a:srgbClr val="CCFFFF"/>
            </a:solidFill>
          </a:ln>
        </p:spPr>
        <p:txBody>
          <a:bodyPr wrap="square" rtlCol="0">
            <a:spAutoFit/>
          </a:bodyPr>
          <a:lstStyle/>
          <a:p>
            <a:r>
              <a:rPr kumimoji="1" lang="ja-JP" altLang="en-US" sz="1400" b="1" dirty="0">
                <a:latin typeface="+mj-ea"/>
                <a:ea typeface="+mj-ea"/>
              </a:rPr>
              <a:t>カメイ</a:t>
            </a:r>
          </a:p>
        </p:txBody>
      </p:sp>
      <p:pic>
        <p:nvPicPr>
          <p:cNvPr id="8" name="Picture 2" descr="http://s-andante.org/wp-content/uploads/2020/03/slider1-1.jpg">
            <a:extLst>
              <a:ext uri="{FF2B5EF4-FFF2-40B4-BE49-F238E27FC236}">
                <a16:creationId xmlns:a16="http://schemas.microsoft.com/office/drawing/2014/main" id="{5E8116C6-1847-4DD9-8445-9B195F73D2DF}"/>
              </a:ext>
            </a:extLst>
          </p:cNvPr>
          <p:cNvPicPr>
            <a:picLocks noGrp="1" noChangeAspect="1" noChangeArrowheads="1"/>
          </p:cNvPicPr>
          <p:nvPr>
            <p:ph idx="1"/>
          </p:nvPr>
        </p:nvPicPr>
        <p:blipFill rotWithShape="1">
          <a:blip r:embed="rId6">
            <a:extLst>
              <a:ext uri="{28A0092B-C50C-407E-A947-70E740481C1C}">
                <a14:useLocalDpi xmlns:a14="http://schemas.microsoft.com/office/drawing/2010/main" val="0"/>
              </a:ext>
            </a:extLst>
          </a:blip>
          <a:srcRect l="48398"/>
          <a:stretch/>
        </p:blipFill>
        <p:spPr>
          <a:xfrm>
            <a:off x="74423" y="2420888"/>
            <a:ext cx="3131818" cy="1796626"/>
          </a:xfrm>
          <a:noFill/>
          <a:ln w="76200">
            <a:solidFill>
              <a:srgbClr val="FFFF00"/>
            </a:solidFill>
          </a:ln>
          <a:extLst>
            <a:ext uri="{909E8E84-426E-40DD-AFC4-6F175D3DCCD1}">
              <a14:hiddenFill xmlns:a14="http://schemas.microsoft.com/office/drawing/2010/main">
                <a:solidFill>
                  <a:srgbClr val="FFFFFF"/>
                </a:solidFill>
              </a14:hiddenFill>
            </a:ext>
          </a:extLst>
        </p:spPr>
      </p:pic>
      <p:sp>
        <p:nvSpPr>
          <p:cNvPr id="11" name="Rectangle 2">
            <a:extLst>
              <a:ext uri="{FF2B5EF4-FFF2-40B4-BE49-F238E27FC236}">
                <a16:creationId xmlns:a16="http://schemas.microsoft.com/office/drawing/2014/main" id="{5BF4A5BB-CA7A-4B0B-9934-2D0BF4C4A6B9}"/>
              </a:ext>
            </a:extLst>
          </p:cNvPr>
          <p:cNvSpPr>
            <a:spLocks noChangeArrowheads="1"/>
          </p:cNvSpPr>
          <p:nvPr/>
        </p:nvSpPr>
        <p:spPr bwMode="auto">
          <a:xfrm>
            <a:off x="0" y="6524625"/>
            <a:ext cx="9144000" cy="392113"/>
          </a:xfrm>
          <a:prstGeom prst="rect">
            <a:avLst/>
          </a:prstGeom>
          <a:solidFill>
            <a:schemeClr val="accent1">
              <a:lumMod val="50000"/>
            </a:schemeClr>
          </a:solidFill>
          <a:ln>
            <a:noFill/>
          </a:ln>
        </p:spPr>
        <p:txBody>
          <a:bodyPr wrap="none" anchor="ctr"/>
          <a:lstStyle>
            <a:lvl1pPr eaLnBrk="0" hangingPunct="0">
              <a:spcBef>
                <a:spcPct val="20000"/>
              </a:spcBef>
              <a:buChar char="•"/>
              <a:defRPr kumimoji="1" sz="3200">
                <a:solidFill>
                  <a:schemeClr val="tx1"/>
                </a:solidFill>
                <a:latin typeface="Arial" pitchFamily="34" charset="0"/>
                <a:ea typeface="ＭＳ Ｐゴシック" pitchFamily="50" charset="-128"/>
              </a:defRPr>
            </a:lvl1pPr>
            <a:lvl2pPr marL="742950" indent="-285750" eaLnBrk="0" hangingPunct="0">
              <a:spcBef>
                <a:spcPct val="20000"/>
              </a:spcBef>
              <a:buChar char="–"/>
              <a:defRPr kumimoji="1" sz="2800">
                <a:solidFill>
                  <a:schemeClr val="tx1"/>
                </a:solidFill>
                <a:latin typeface="Arial" pitchFamily="34" charset="0"/>
                <a:ea typeface="ＭＳ Ｐゴシック" pitchFamily="50" charset="-128"/>
              </a:defRPr>
            </a:lvl2pPr>
            <a:lvl3pPr marL="1143000" indent="-228600" eaLnBrk="0" hangingPunct="0">
              <a:spcBef>
                <a:spcPct val="20000"/>
              </a:spcBef>
              <a:buChar char="•"/>
              <a:defRPr kumimoji="1" sz="2400">
                <a:solidFill>
                  <a:schemeClr val="tx1"/>
                </a:solidFill>
                <a:latin typeface="Arial" pitchFamily="34" charset="0"/>
                <a:ea typeface="ＭＳ Ｐゴシック" pitchFamily="50" charset="-128"/>
              </a:defRPr>
            </a:lvl3pPr>
            <a:lvl4pPr marL="1600200" indent="-228600" eaLnBrk="0" hangingPunct="0">
              <a:spcBef>
                <a:spcPct val="20000"/>
              </a:spcBef>
              <a:buChar char="–"/>
              <a:defRPr kumimoji="1" sz="2000">
                <a:solidFill>
                  <a:schemeClr val="tx1"/>
                </a:solidFill>
                <a:latin typeface="Arial" pitchFamily="34" charset="0"/>
                <a:ea typeface="ＭＳ Ｐゴシック" pitchFamily="50" charset="-128"/>
              </a:defRPr>
            </a:lvl4pPr>
            <a:lvl5pPr marL="2057400" indent="-228600" eaLnBrk="0" hangingPunct="0">
              <a:spcBef>
                <a:spcPct val="20000"/>
              </a:spcBef>
              <a:buChar char="»"/>
              <a:defRPr kumimoji="1" sz="2000">
                <a:solidFill>
                  <a:schemeClr val="tx1"/>
                </a:solidFill>
                <a:latin typeface="Arial" pitchFamily="34"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ＭＳ Ｐゴシック" pitchFamily="50" charset="-128"/>
              </a:defRPr>
            </a:lvl9pPr>
          </a:lstStyle>
          <a:p>
            <a:pPr eaLnBrk="1" hangingPunct="1">
              <a:spcBef>
                <a:spcPct val="0"/>
              </a:spcBef>
              <a:buFontTx/>
              <a:buNone/>
              <a:defRPr/>
            </a:pPr>
            <a:endParaRPr lang="ja-JP" altLang="en-US" sz="1800"/>
          </a:p>
        </p:txBody>
      </p:sp>
      <p:sp>
        <p:nvSpPr>
          <p:cNvPr id="12" name="Rectangle 13">
            <a:extLst>
              <a:ext uri="{FF2B5EF4-FFF2-40B4-BE49-F238E27FC236}">
                <a16:creationId xmlns:a16="http://schemas.microsoft.com/office/drawing/2014/main" id="{C51A674C-AD94-4C9F-8E9E-AD45D9D6120E}"/>
              </a:ext>
            </a:extLst>
          </p:cNvPr>
          <p:cNvSpPr>
            <a:spLocks noChangeArrowheads="1"/>
          </p:cNvSpPr>
          <p:nvPr/>
        </p:nvSpPr>
        <p:spPr bwMode="auto">
          <a:xfrm>
            <a:off x="3167856" y="6578600"/>
            <a:ext cx="280828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r>
              <a:rPr lang="ja-JP" altLang="en-US" sz="1600" dirty="0">
                <a:solidFill>
                  <a:schemeClr val="bg1"/>
                </a:solidFill>
                <a:latin typeface="UD デジタル 教科書体 NP-B" panose="02020700000000000000" pitchFamily="18" charset="-128"/>
                <a:ea typeface="UD デジタル 教科書体 NP-B" panose="02020700000000000000" pitchFamily="18" charset="-128"/>
              </a:rPr>
              <a:t>一般社団法人　あんだんて</a:t>
            </a:r>
            <a:endParaRPr lang="en-US" altLang="ja-JP" sz="1600" dirty="0">
              <a:solidFill>
                <a:schemeClr val="bg1"/>
              </a:solidFill>
              <a:latin typeface="UD デジタル 教科書体 NP-B" panose="02020700000000000000" pitchFamily="18" charset="-128"/>
              <a:ea typeface="UD デジタル 教科書体 NP-B" panose="02020700000000000000" pitchFamily="18" charset="-128"/>
            </a:endParaRPr>
          </a:p>
        </p:txBody>
      </p:sp>
      <p:pic>
        <p:nvPicPr>
          <p:cNvPr id="6" name="図 5">
            <a:extLst>
              <a:ext uri="{FF2B5EF4-FFF2-40B4-BE49-F238E27FC236}">
                <a16:creationId xmlns:a16="http://schemas.microsoft.com/office/drawing/2014/main" id="{7BB17BBE-B729-4282-998A-4E8482176E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421" y="46212"/>
            <a:ext cx="3131820" cy="2243678"/>
          </a:xfrm>
          <a:prstGeom prst="rect">
            <a:avLst/>
          </a:prstGeom>
          <a:ln w="76200">
            <a:solidFill>
              <a:srgbClr val="00B050"/>
            </a:solidFill>
          </a:ln>
        </p:spPr>
      </p:pic>
      <p:sp>
        <p:nvSpPr>
          <p:cNvPr id="4" name="テキスト ボックス 3">
            <a:extLst>
              <a:ext uri="{FF2B5EF4-FFF2-40B4-BE49-F238E27FC236}">
                <a16:creationId xmlns:a16="http://schemas.microsoft.com/office/drawing/2014/main" id="{F46A636B-4519-9992-E9A4-6893CAE464B8}"/>
              </a:ext>
            </a:extLst>
          </p:cNvPr>
          <p:cNvSpPr txBox="1"/>
          <p:nvPr/>
        </p:nvSpPr>
        <p:spPr>
          <a:xfrm>
            <a:off x="3279488" y="4370936"/>
            <a:ext cx="5863336" cy="2277547"/>
          </a:xfrm>
          <a:prstGeom prst="rect">
            <a:avLst/>
          </a:prstGeom>
          <a:noFill/>
        </p:spPr>
        <p:txBody>
          <a:bodyPr wrap="square" rtlCol="0">
            <a:spAutoFit/>
          </a:bodyPr>
          <a:lstStyle/>
          <a:p>
            <a:pPr>
              <a:lnSpc>
                <a:spcPts val="2600"/>
              </a:lnSpc>
            </a:pPr>
            <a:r>
              <a:rPr kumimoji="1" lang="ja-JP" altLang="en-US" sz="2000" b="1" dirty="0">
                <a:solidFill>
                  <a:srgbClr val="FF0066"/>
                </a:solidFill>
                <a:latin typeface="UD デジタル 教科書体 NK-B" panose="02020700000000000000" pitchFamily="18" charset="-128"/>
                <a:ea typeface="UD デジタル 教科書体 NK-B" panose="02020700000000000000" pitchFamily="18" charset="-128"/>
              </a:rPr>
              <a:t>＝こども食堂活動・居場所を一緒に支えてください＝</a:t>
            </a:r>
            <a:endParaRPr kumimoji="1" lang="en-US" altLang="ja-JP" sz="2000" b="1" dirty="0">
              <a:solidFill>
                <a:srgbClr val="FF0066"/>
              </a:solidFill>
              <a:latin typeface="UD デジタル 教科書体 NK-B" panose="02020700000000000000" pitchFamily="18" charset="-128"/>
              <a:ea typeface="UD デジタル 教科書体 NK-B" panose="02020700000000000000" pitchFamily="18" charset="-128"/>
            </a:endParaRPr>
          </a:p>
          <a:p>
            <a:pPr>
              <a:lnSpc>
                <a:spcPts val="2600"/>
              </a:lnSpc>
            </a:pPr>
            <a:r>
              <a:rPr lang="ja-JP" altLang="en-US" sz="1600" dirty="0">
                <a:latin typeface="UD デジタル 教科書体 NK-B" panose="02020700000000000000" pitchFamily="18" charset="-128"/>
                <a:ea typeface="UD デジタル 教科書体 NK-B" panose="02020700000000000000" pitchFamily="18" charset="-128"/>
                <a:cs typeface="Cascadia Code" panose="020B0609020000020004" pitchFamily="49" charset="0"/>
              </a:rPr>
              <a:t>こ</a:t>
            </a:r>
            <a:r>
              <a:rPr lang="ja-JP" altLang="en-US" sz="1600" b="0" i="0" dirty="0">
                <a:effectLst/>
                <a:latin typeface="UD デジタル 教科書体 NK-B" panose="02020700000000000000" pitchFamily="18" charset="-128"/>
                <a:ea typeface="UD デジタル 教科書体 NK-B" panose="02020700000000000000" pitchFamily="18" charset="-128"/>
                <a:cs typeface="Cascadia Code" panose="020B0609020000020004" pitchFamily="49" charset="0"/>
              </a:rPr>
              <a:t>どもから高齢者まで多世代を</a:t>
            </a:r>
            <a:r>
              <a:rPr lang="ja-JP" altLang="en-US" sz="1600" dirty="0">
                <a:latin typeface="UD デジタル 教科書体 NK-B" panose="02020700000000000000" pitchFamily="18" charset="-128"/>
                <a:ea typeface="UD デジタル 教科書体 NK-B" panose="02020700000000000000" pitchFamily="18" charset="-128"/>
                <a:cs typeface="Cascadia Code" panose="020B0609020000020004" pitchFamily="49" charset="0"/>
              </a:rPr>
              <a:t>つなぐ</a:t>
            </a:r>
            <a:r>
              <a:rPr lang="ja-JP" altLang="en-US" sz="1600" b="0" i="0" dirty="0">
                <a:effectLst/>
                <a:latin typeface="UD デジタル 教科書体 NK-B" panose="02020700000000000000" pitchFamily="18" charset="-128"/>
                <a:ea typeface="UD デジタル 教科書体 NK-B" panose="02020700000000000000" pitchFamily="18" charset="-128"/>
                <a:cs typeface="Cascadia Code" panose="020B0609020000020004" pitchFamily="49" charset="0"/>
              </a:rPr>
              <a:t>居場所、</a:t>
            </a:r>
            <a:r>
              <a:rPr lang="ja-JP" altLang="en-US" sz="1600" dirty="0">
                <a:latin typeface="UD デジタル 教科書体 NK-B" panose="02020700000000000000" pitchFamily="18" charset="-128"/>
                <a:ea typeface="UD デジタル 教科書体 NK-B" panose="02020700000000000000" pitchFamily="18" charset="-128"/>
              </a:rPr>
              <a:t>食事や食材の提供している「一般社団法人あんだんて」」では、運営のほとんどがボランティアで行われており資金面などで苦境に立たされております</a:t>
            </a:r>
            <a:endParaRPr lang="en-US" altLang="ja-JP" sz="1600" dirty="0">
              <a:latin typeface="UD デジタル 教科書体 NK-B" panose="02020700000000000000" pitchFamily="18" charset="-128"/>
              <a:ea typeface="UD デジタル 教科書体 NK-B" panose="02020700000000000000" pitchFamily="18" charset="-128"/>
            </a:endParaRPr>
          </a:p>
          <a:p>
            <a:pPr>
              <a:lnSpc>
                <a:spcPts val="2600"/>
              </a:lnSpc>
            </a:pPr>
            <a:r>
              <a:rPr lang="en-US" altLang="ja-JP" sz="1600" dirty="0">
                <a:solidFill>
                  <a:srgbClr val="FF0066"/>
                </a:solidFill>
                <a:latin typeface="UD デジタル 教科書体 NK-B" panose="02020700000000000000" pitchFamily="18" charset="-128"/>
                <a:ea typeface="UD デジタル 教科書体 NK-B" panose="02020700000000000000" pitchFamily="18" charset="-128"/>
              </a:rPr>
              <a:t>“</a:t>
            </a:r>
            <a:r>
              <a:rPr lang="ja-JP" altLang="en-US" sz="1600" dirty="0">
                <a:solidFill>
                  <a:srgbClr val="FF0066"/>
                </a:solidFill>
                <a:latin typeface="UD デジタル 教科書体 NK-B" panose="02020700000000000000" pitchFamily="18" charset="-128"/>
                <a:ea typeface="UD デジタル 教科書体 NK-B" panose="02020700000000000000" pitchFamily="18" charset="-128"/>
              </a:rPr>
              <a:t>お願いです”</a:t>
            </a:r>
            <a:r>
              <a:rPr lang="ja-JP" altLang="en-US" sz="1600" dirty="0">
                <a:latin typeface="UD デジタル 教科書体 NK-B" panose="02020700000000000000" pitchFamily="18" charset="-128"/>
                <a:ea typeface="UD デジタル 教科書体 NK-B" panose="02020700000000000000" pitchFamily="18" charset="-128"/>
              </a:rPr>
              <a:t>一人でも多くのこどもたちに食と・居場所・教育の場を与えるためにあなたのご寄付で子どもたちを支えて下さい！</a:t>
            </a:r>
            <a:endParaRPr lang="en-US" altLang="ja-JP" sz="1600" dirty="0">
              <a:latin typeface="UD デジタル 教科書体 NK-B" panose="02020700000000000000" pitchFamily="18" charset="-128"/>
              <a:ea typeface="UD デジタル 教科書体 NK-B" panose="02020700000000000000" pitchFamily="18" charset="-128"/>
            </a:endParaRPr>
          </a:p>
          <a:p>
            <a:endParaRPr kumimoji="1" lang="ja-JP" altLang="en-US" sz="1200" dirty="0">
              <a:latin typeface="+mn-ea"/>
            </a:endParaRPr>
          </a:p>
        </p:txBody>
      </p:sp>
    </p:spTree>
    <p:extLst>
      <p:ext uri="{BB962C8B-B14F-4D97-AF65-F5344CB8AC3E}">
        <p14:creationId xmlns:p14="http://schemas.microsoft.com/office/powerpoint/2010/main" val="426384835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3645</TotalTime>
  <Words>331</Words>
  <Application>Microsoft Office PowerPoint</Application>
  <PresentationFormat>画面に合わせる (4:3)</PresentationFormat>
  <Paragraphs>44</Paragraphs>
  <Slides>4</Slides>
  <Notes>4</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4</vt:i4>
      </vt:variant>
    </vt:vector>
  </HeadingPairs>
  <TitlesOfParts>
    <vt:vector size="15" baseType="lpstr">
      <vt:lpstr>BIZ UDPゴシック</vt:lpstr>
      <vt:lpstr>HGP創英角ｺﾞｼｯｸUB</vt:lpstr>
      <vt:lpstr>HGP創英角ﾎﾟｯﾌﾟ体</vt:lpstr>
      <vt:lpstr>HG丸ｺﾞｼｯｸM-PRO</vt:lpstr>
      <vt:lpstr>ＭＳ Ｐゴシック</vt:lpstr>
      <vt:lpstr>UD デジタル 教科書体 NK-B</vt:lpstr>
      <vt:lpstr>UD デジタル 教科書体 NP-B</vt:lpstr>
      <vt:lpstr>游明朝</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「木もれびのさす里山」における異世代間交流</dc:title>
  <dc:creator>yamamoto-ioi</dc:creator>
  <cp:lastModifiedBy>山本 光子</cp:lastModifiedBy>
  <cp:revision>257</cp:revision>
  <cp:lastPrinted>2022-09-03T08:58:05Z</cp:lastPrinted>
  <dcterms:created xsi:type="dcterms:W3CDTF">2011-01-30T00:07:52Z</dcterms:created>
  <dcterms:modified xsi:type="dcterms:W3CDTF">2022-09-03T08:59:38Z</dcterms:modified>
</cp:coreProperties>
</file>